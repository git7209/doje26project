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9adca4216eb453c" /><Relationship Type="http://schemas.openxmlformats.org/officeDocument/2006/relationships/extended-properties" Target="/docProps/app.xml" Id="R99db9ef8a0d44b8b" /><Relationship Type="http://schemas.openxmlformats.org/officeDocument/2006/relationships/officeDocument" Target="/ppt/presentation.xml" Id="Rbf35e758b12c4ac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eb3260db9a441d5"/>
  </p:sldMasterIdLst>
  <p:notesMasterIdLst>
    <p:notesMasterId xmlns:r="http://schemas.openxmlformats.org/officeDocument/2006/relationships" r:id="R285a315871464c64"/>
  </p:notesMasterIdLst>
  <p:sldIdLst>
    <p:sldId xmlns:r="http://schemas.openxmlformats.org/officeDocument/2006/relationships" id="256" r:id="R63f458c3e3604565"/>
    <p:sldId xmlns:r="http://schemas.openxmlformats.org/officeDocument/2006/relationships" id="257" r:id="R975a72bfbf6e49c1"/>
    <p:sldId xmlns:r="http://schemas.openxmlformats.org/officeDocument/2006/relationships" id="258" r:id="R7ba91c1687464561"/>
    <p:sldId xmlns:r="http://schemas.openxmlformats.org/officeDocument/2006/relationships" id="259" r:id="R2c060875bd0144a9"/>
    <p:sldId xmlns:r="http://schemas.openxmlformats.org/officeDocument/2006/relationships" id="260" r:id="R45f12aeaee664a54"/>
    <p:sldId xmlns:r="http://schemas.openxmlformats.org/officeDocument/2006/relationships" id="261" r:id="R7dce86f9b9cf423c"/>
    <p:sldId xmlns:r="http://schemas.openxmlformats.org/officeDocument/2006/relationships" id="262" r:id="Rff36ce1cb445464c"/>
    <p:sldId xmlns:r="http://schemas.openxmlformats.org/officeDocument/2006/relationships" id="263" r:id="Rccf3e113daa643b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f338f5124e14826" /><Relationship Type="http://schemas.openxmlformats.org/officeDocument/2006/relationships/slideMaster" Target="/ppt/slideMasters/slideMaster1.xml" Id="Rdeb3260db9a441d5" /><Relationship Type="http://schemas.openxmlformats.org/officeDocument/2006/relationships/notesMaster" Target="/ppt/notesMasters/notesMaster1.xml" Id="R285a315871464c64" /><Relationship Type="http://schemas.openxmlformats.org/officeDocument/2006/relationships/presProps" Target="/ppt/presProps.xml" Id="R67abe725b22f4824" /><Relationship Type="http://schemas.openxmlformats.org/officeDocument/2006/relationships/tableStyles" Target="/ppt/tableStyles.xml" Id="Rb73bdd89cc59482b" /><Relationship Type="http://schemas.openxmlformats.org/officeDocument/2006/relationships/slide" Target="/ppt/slides/slide1.xml" Id="R63f458c3e3604565" /><Relationship Type="http://schemas.openxmlformats.org/officeDocument/2006/relationships/slide" Target="/ppt/slides/slide2.xml" Id="R975a72bfbf6e49c1" /><Relationship Type="http://schemas.openxmlformats.org/officeDocument/2006/relationships/slide" Target="/ppt/slides/slide3.xml" Id="R7ba91c1687464561" /><Relationship Type="http://schemas.openxmlformats.org/officeDocument/2006/relationships/slide" Target="/ppt/slides/slide4.xml" Id="R2c060875bd0144a9" /><Relationship Type="http://schemas.openxmlformats.org/officeDocument/2006/relationships/slide" Target="/ppt/slides/slide5.xml" Id="R45f12aeaee664a54" /><Relationship Type="http://schemas.openxmlformats.org/officeDocument/2006/relationships/slide" Target="/ppt/slides/slide6.xml" Id="R7dce86f9b9cf423c" /><Relationship Type="http://schemas.openxmlformats.org/officeDocument/2006/relationships/slide" Target="/ppt/slides/slide7.xml" Id="Rff36ce1cb445464c" /><Relationship Type="http://schemas.openxmlformats.org/officeDocument/2006/relationships/slide" Target="/ppt/slides/slide8.xml" Id="Rccf3e113daa643b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9515e0c788446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88fa68918a14b94" /><Relationship Type="http://schemas.openxmlformats.org/officeDocument/2006/relationships/notesMaster" Target="/ppt/notesMasters/notesMaster1.xml" Id="Rfabdcf783f11444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ab978298dd74adc" /><Relationship Type="http://schemas.openxmlformats.org/officeDocument/2006/relationships/notesMaster" Target="/ppt/notesMasters/notesMaster1.xml" Id="R1f7e4b8bd1ba4a2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02c890fb664d3c" /><Relationship Type="http://schemas.openxmlformats.org/officeDocument/2006/relationships/notesMaster" Target="/ppt/notesMasters/notesMaster1.xml" Id="Rdd3491e71cb740b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ec27c345133450c" /><Relationship Type="http://schemas.openxmlformats.org/officeDocument/2006/relationships/notesMaster" Target="/ppt/notesMasters/notesMaster1.xml" Id="Rd972a30bfd354c5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d4525294b884857" /><Relationship Type="http://schemas.openxmlformats.org/officeDocument/2006/relationships/notesMaster" Target="/ppt/notesMasters/notesMaster1.xml" Id="Ra70e4f5bd28e457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85150b0f6844c8" /><Relationship Type="http://schemas.openxmlformats.org/officeDocument/2006/relationships/notesMaster" Target="/ppt/notesMasters/notesMaster1.xml" Id="R9351d673307c405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34df0adb56864b8b" /><Relationship Type="http://schemas.openxmlformats.org/officeDocument/2006/relationships/notesMaster" Target="/ppt/notesMasters/notesMaster1.xml" Id="R7adab8c11a7a453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4dac2011db04cbf" /><Relationship Type="http://schemas.openxmlformats.org/officeDocument/2006/relationships/notesMaster" Target="/ppt/notesMasters/notesMaster1.xml" Id="R6f231ca08f0248c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project.md</a:t>
            </a:r>
          </a:p>
          <a:p xmlns:a="http://schemas.openxmlformats.org/drawingml/2006/main">
            <a:r>
              <a:t>- package.json</a:t>
            </a:r>
          </a:p>
          <a:p xmlns:a="http://schemas.openxmlformats.org/drawingml/2006/main">
            <a:r>
              <a:t>- server.js</a:t>
            </a:r>
          </a:p>
          <a:p xmlns:a="http://schemas.openxmlformats.org/drawingml/2006/main">
            <a:r>
              <a:t>- schema.sql</a:t>
            </a:r>
          </a:p>
          <a:p xmlns:a="http://schemas.openxmlformats.org/drawingml/2006/main">
            <a:r>
              <a:t>- html/index.html</a:t>
            </a:r>
          </a:p>
          <a:p xmlns:a="http://schemas.openxmlformats.org/drawingml/2006/main">
            <a:r>
              <a:t>- style/style.css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본 프로젝트 소스 파일을 바탕으로 구성한 목차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html/index.html — 대시보드 정보 구조</a:t>
            </a:r>
          </a:p>
          <a:p xmlns:a="http://schemas.openxmlformats.org/drawingml/2006/main">
            <a:r>
              <a:t>- server.js — 데이터 조회 API</a:t>
            </a:r>
          </a:p>
          <a:p xmlns:a="http://schemas.openxmlformats.org/drawingml/2006/main">
            <a:r>
              <a:t>- schema.sql — 컨테이너 상태 및 자원 필드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server.js — HTTP 서버, 정적 파일 제공, /api/dashboard</a:t>
            </a:r>
          </a:p>
          <a:p xmlns:a="http://schemas.openxmlformats.org/drawingml/2006/main">
            <a:r>
              <a:t>- schema.sql — PostgreSQL containers 테이블</a:t>
            </a:r>
          </a:p>
          <a:p xmlns:a="http://schemas.openxmlformats.org/drawingml/2006/main">
            <a:r>
              <a:t>- html/index.html — fetch 및 렌더링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html/index.html — 요약 카드, 자원 카드, 컨테이너 표, 새로고침 버튼</a:t>
            </a:r>
          </a:p>
          <a:p xmlns:a="http://schemas.openxmlformats.org/drawingml/2006/main">
            <a:r>
              <a:t>- server.js — 요약 집계 및 데이터 반환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schema.sql — 테이블 스키마, 상태 CHECK 제약조건, 초기 데이터</a:t>
            </a:r>
          </a:p>
          <a:p xmlns:a="http://schemas.openxmlformats.org/drawingml/2006/main">
            <a:r>
              <a:t>- server.js — GET /api/dashboard 응답 구조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style/style.css — 고정 사이드바, 카드/표 스타일, 900px·620px 미디어 쿼리</a:t>
            </a:r>
          </a:p>
          <a:p xmlns:a="http://schemas.openxmlformats.org/drawingml/2006/main">
            <a:r>
              <a:t>- html/index.html — 화면 정보 구조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현재 구현 범위: server.js, schema.sql, html/index.html, style/style.css</a:t>
            </a:r>
          </a:p>
          <a:p xmlns:a="http://schemas.openxmlformats.org/drawingml/2006/main">
            <a:r>
              <a:t>- 향후 과제는 현재 소스에 없는 확장 제안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8f9ac11c73b476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d1ef03e12ff4950" /><Relationship Type="http://schemas.openxmlformats.org/officeDocument/2006/relationships/slideLayout" Target="/ppt/slideLayouts/slideLayout1.xml" Id="R6591827a017949a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591827a017949a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823964f5444c6" /><Relationship Type="http://schemas.openxmlformats.org/officeDocument/2006/relationships/notesSlide" Target="/ppt/notesSlides/notesSlide1.xml" Id="Rf3ea37cd12b3487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20dd12ba884192" /><Relationship Type="http://schemas.openxmlformats.org/officeDocument/2006/relationships/notesSlide" Target="/ppt/notesSlides/notesSlide2.xml" Id="R9d75429cf4d44862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114d8927dd49a6" /><Relationship Type="http://schemas.openxmlformats.org/officeDocument/2006/relationships/notesSlide" Target="/ppt/notesSlides/notesSlide3.xml" Id="R653e0def8baa4b4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20f98dbddd4c0c" /><Relationship Type="http://schemas.openxmlformats.org/officeDocument/2006/relationships/notesSlide" Target="/ppt/notesSlides/notesSlide4.xml" Id="Rdb70a19e0fec446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3ee1a917224942" /><Relationship Type="http://schemas.openxmlformats.org/officeDocument/2006/relationships/notesSlide" Target="/ppt/notesSlides/notesSlide5.xml" Id="R27acd48a15334da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17a232191044a8f" /><Relationship Type="http://schemas.openxmlformats.org/officeDocument/2006/relationships/notesSlide" Target="/ppt/notesSlides/notesSlide6.xml" Id="Rce33c144b07942a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e79601923c442a" /><Relationship Type="http://schemas.openxmlformats.org/officeDocument/2006/relationships/notesSlide" Target="/ppt/notesSlides/notesSlide7.xml" Id="R17638d43e398465c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9cde087b14d72" /><Relationship Type="http://schemas.openxmlformats.org/officeDocument/2006/relationships/notesSlide" Target="/ppt/notesSlides/notesSlide8.xml" Id="R18e9aeeff6e6435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orange-edge">
            <a:extLst xmlns:a="http://schemas.openxmlformats.org/drawingml/2006/main">
              <a:ext uri="{FF2B5EF4-FFF2-40B4-BE49-F238E27FC236}">
                <a16:creationId xmlns:a16="http://schemas.microsoft.com/office/drawing/2014/main" id="{242D62D3-3859-4F5D-A734-8048E29DB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yebrow">
            <a:extLst xmlns:a="http://schemas.openxmlformats.org/drawingml/2006/main">
              <a:ext uri="{FF2B5EF4-FFF2-40B4-BE49-F238E27FC236}">
                <a16:creationId xmlns:a16="http://schemas.microsoft.com/office/drawing/2014/main" id="{74DF1211-D739-42BE-80F4-61D442DF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524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PROJECT REPORT</a:t>
            </a:r>
          </a:p>
        </p:txBody>
      </p:sp>
      <p:sp>
        <p:nvSpPr>
          <p:cNvPr id="3" name="cover-title">
            <a:extLst xmlns:a="http://schemas.openxmlformats.org/drawingml/2006/main">
              <a:ext uri="{FF2B5EF4-FFF2-40B4-BE49-F238E27FC236}">
                <a16:creationId xmlns:a16="http://schemas.microsoft.com/office/drawing/2014/main" id="{5243380B-2962-4370-986E-740359C9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428750"/>
            <a:ext cx="7620000" cy="2333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LCX 기반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컨테이너 관리</a:t>
            </a:r>
          </a:p>
          <a:p xmlns:a="http://schemas.openxmlformats.org/drawingml/2006/main">
            <a:pPr algn="l">
              <a:defRPr sz="4350" b="1">
                <a:solidFill>
                  <a:srgbClr val="FFFFFF"/>
                </a:solidFill>
              </a:defRPr>
            </a:pPr>
            <a:r>
              <a:rPr sz="4350" b="1">
                <a:solidFill>
                  <a:srgbClr val="FFFFFF"/>
                </a:solidFill>
              </a:rPr>
              <a:t>대시보드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574B0F-6B17-4B0B-B23C-8D16CAE8D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80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66675">
            <a:solidFill>
              <a:srgbClr val="FF6A00"/>
            </a:solidFill>
            <a:prstDash val="solid"/>
          </a:ln>
        </p:spPr>
      </p:sp>
      <p:sp>
        <p:nvSpPr>
          <p:cNvPr id="5" name="subtitle">
            <a:extLst xmlns:a="http://schemas.openxmlformats.org/drawingml/2006/main">
              <a:ext uri="{FF2B5EF4-FFF2-40B4-BE49-F238E27FC236}">
                <a16:creationId xmlns:a16="http://schemas.microsoft.com/office/drawing/2014/main" id="{FD879AC2-E646-42D2-AE27-959B07669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57700"/>
            <a:ext cx="7810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C8C8C8"/>
                </a:solidFill>
              </a:defRPr>
            </a:pPr>
            <a:r>
              <a:rPr sz="1575" b="0">
                <a:solidFill>
                  <a:srgbClr val="C8C8C8"/>
                </a:solidFill>
              </a:rPr>
              <a:t>Node.js와 PostgreSQL을 활용한 웹 기반 모니터링 시스템</a:t>
            </a:r>
          </a:p>
        </p:txBody>
      </p:sp>
      <p:sp>
        <p:nvSpPr>
          <p:cNvPr id="6" name="student-id">
            <a:extLst xmlns:a="http://schemas.openxmlformats.org/drawingml/2006/main">
              <a:ext uri="{FF2B5EF4-FFF2-40B4-BE49-F238E27FC236}">
                <a16:creationId xmlns:a16="http://schemas.microsoft.com/office/drawing/2014/main" id="{4671B0EF-B9FD-4FFF-9A6A-097C9FE9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25780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학번  ＿＿＿＿＿＿＿＿</a:t>
            </a:r>
          </a:p>
        </p:txBody>
      </p:sp>
      <p:sp>
        <p:nvSpPr>
          <p:cNvPr id="7" name="student-name">
            <a:extLst xmlns:a="http://schemas.openxmlformats.org/drawingml/2006/main">
              <a:ext uri="{FF2B5EF4-FFF2-40B4-BE49-F238E27FC236}">
                <a16:creationId xmlns:a16="http://schemas.microsoft.com/office/drawing/2014/main" id="{8B3BA307-488C-4AAA-842F-20BCEFAF7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5657850"/>
            <a:ext cx="2952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이름  ＿＿＿＿＿＿＿＿</a:t>
            </a:r>
          </a:p>
        </p:txBody>
      </p:sp>
      <p:sp>
        <p:nvSpPr>
          <p:cNvPr id="8" name="year">
            <a:extLst xmlns:a="http://schemas.openxmlformats.org/drawingml/2006/main">
              <a:ext uri="{FF2B5EF4-FFF2-40B4-BE49-F238E27FC236}">
                <a16:creationId xmlns:a16="http://schemas.microsoft.com/office/drawing/2014/main" id="{87E07190-221C-4C77-B6BD-792B0BA9B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5150" y="590550"/>
            <a:ext cx="666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1050" b="1">
                <a:solidFill>
                  <a:srgbClr val="707070"/>
                </a:solidFill>
              </a:defRPr>
            </a:pPr>
            <a:r>
              <a:rPr sz="1050" b="1">
                <a:solidFill>
                  <a:srgbClr val="707070"/>
                </a:solidFill>
              </a:rPr>
              <a:t>2026</a:t>
            </a:r>
          </a:p>
        </p:txBody>
      </p:sp>
    </p:spTree>
    <p:extLst>
      <p:ext uri="{BB962C8B-B14F-4D97-AF65-F5344CB8AC3E}">
        <p14:creationId xmlns:p14="http://schemas.microsoft.com/office/powerpoint/2010/main" val="25313766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num-2">
            <a:extLst xmlns:a="http://schemas.openxmlformats.org/drawingml/2006/main">
              <a:ext uri="{FF2B5EF4-FFF2-40B4-BE49-F238E27FC236}">
                <a16:creationId xmlns:a16="http://schemas.microsoft.com/office/drawing/2014/main" id="{C0489317-5161-4B33-9912-80009A24D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2" name="title-2">
            <a:extLst xmlns:a="http://schemas.openxmlformats.org/drawingml/2006/main">
              <a:ext uri="{FF2B5EF4-FFF2-40B4-BE49-F238E27FC236}">
                <a16:creationId xmlns:a16="http://schemas.microsoft.com/office/drawing/2014/main" id="{CB234094-6C9B-4DAE-ADFA-8C25EB15F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목차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DF3D6E2-3DCA-4E71-BD14-34C142F01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2">
            <a:extLst xmlns:a="http://schemas.openxmlformats.org/drawingml/2006/main">
              <a:ext uri="{FF2B5EF4-FFF2-40B4-BE49-F238E27FC236}">
                <a16:creationId xmlns:a16="http://schemas.microsoft.com/office/drawing/2014/main" id="{84899EA3-2933-4D1E-848B-8FB64EE75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agenda-n-0">
            <a:extLst xmlns:a="http://schemas.openxmlformats.org/drawingml/2006/main">
              <a:ext uri="{FF2B5EF4-FFF2-40B4-BE49-F238E27FC236}">
                <a16:creationId xmlns:a16="http://schemas.microsoft.com/office/drawing/2014/main" id="{CB8B077B-F1A4-4C46-8A63-8C6028290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6" name="agenda-0">
            <a:extLst xmlns:a="http://schemas.openxmlformats.org/drawingml/2006/main">
              <a:ext uri="{FF2B5EF4-FFF2-40B4-BE49-F238E27FC236}">
                <a16:creationId xmlns:a16="http://schemas.microsoft.com/office/drawing/2014/main" id="{0D5D49F0-550A-4027-8E55-39ABFFC64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733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개발 배경과 목표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B94E7FF-04A7-4210-8D96-94F21270C2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324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8" name="agenda-n-1">
            <a:extLst xmlns:a="http://schemas.openxmlformats.org/drawingml/2006/main">
              <a:ext uri="{FF2B5EF4-FFF2-40B4-BE49-F238E27FC236}">
                <a16:creationId xmlns:a16="http://schemas.microsoft.com/office/drawing/2014/main" id="{A7D2ADB1-7B15-4FA6-B47E-E507B9FE5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18097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9" name="agenda-1">
            <a:extLst xmlns:a="http://schemas.openxmlformats.org/drawingml/2006/main">
              <a:ext uri="{FF2B5EF4-FFF2-40B4-BE49-F238E27FC236}">
                <a16:creationId xmlns:a16="http://schemas.microsoft.com/office/drawing/2014/main" id="{FBB926F4-E369-4EAB-A85C-F102B28CA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17335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시스템 구성과 흐름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F2A92F-7280-4F82-BDC7-446C5A012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3241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1" name="agenda-n-2">
            <a:extLst xmlns:a="http://schemas.openxmlformats.org/drawingml/2006/main">
              <a:ext uri="{FF2B5EF4-FFF2-40B4-BE49-F238E27FC236}">
                <a16:creationId xmlns:a16="http://schemas.microsoft.com/office/drawing/2014/main" id="{019D5FEB-5C32-41BB-95EB-C5C8470FF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67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2" name="agenda-2">
            <a:extLst xmlns:a="http://schemas.openxmlformats.org/drawingml/2006/main">
              <a:ext uri="{FF2B5EF4-FFF2-40B4-BE49-F238E27FC236}">
                <a16:creationId xmlns:a16="http://schemas.microsoft.com/office/drawing/2014/main" id="{166754D4-D6B4-42BE-9B58-2B19A1C8D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990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주요 기능 구현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C1E419-3D7C-4B7D-8EFA-3B481A7C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3581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4" name="agenda-n-3">
            <a:extLst xmlns:a="http://schemas.openxmlformats.org/drawingml/2006/main">
              <a:ext uri="{FF2B5EF4-FFF2-40B4-BE49-F238E27FC236}">
                <a16:creationId xmlns:a16="http://schemas.microsoft.com/office/drawing/2014/main" id="{83EDC7F4-266E-46E5-B17A-5098B3F8D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30670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15" name="agenda-3">
            <a:extLst xmlns:a="http://schemas.openxmlformats.org/drawingml/2006/main">
              <a:ext uri="{FF2B5EF4-FFF2-40B4-BE49-F238E27FC236}">
                <a16:creationId xmlns:a16="http://schemas.microsoft.com/office/drawing/2014/main" id="{96467400-F59B-48EA-96B2-3B5F268DD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9908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데이터베이스와 API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FFDF2A3-1A11-4C6C-A194-C8FC4088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35814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7" name="agenda-n-4">
            <a:extLst xmlns:a="http://schemas.openxmlformats.org/drawingml/2006/main">
              <a:ext uri="{FF2B5EF4-FFF2-40B4-BE49-F238E27FC236}">
                <a16:creationId xmlns:a16="http://schemas.microsoft.com/office/drawing/2014/main" id="{B4440F0F-FA95-4B0B-8DBF-C5AB0B616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243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05</a:t>
            </a:r>
          </a:p>
        </p:txBody>
      </p:sp>
      <p:sp>
        <p:nvSpPr>
          <p:cNvPr id="18" name="agenda-4">
            <a:extLst xmlns:a="http://schemas.openxmlformats.org/drawingml/2006/main">
              <a:ext uri="{FF2B5EF4-FFF2-40B4-BE49-F238E27FC236}">
                <a16:creationId xmlns:a16="http://schemas.microsoft.com/office/drawing/2014/main" id="{CF880D4C-D4CC-45C7-BE6E-C61461CE1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248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화면 설계와 반응형 UI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C12827C-8293-4D40-BE33-1FD042F50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4838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20" name="agenda-n-5">
            <a:extLst xmlns:a="http://schemas.openxmlformats.org/drawingml/2006/main">
              <a:ext uri="{FF2B5EF4-FFF2-40B4-BE49-F238E27FC236}">
                <a16:creationId xmlns:a16="http://schemas.microsoft.com/office/drawing/2014/main" id="{22307CD4-FA8E-47C4-9535-208D3A1D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0300" y="4324350"/>
            <a:ext cx="666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FF6A00"/>
                </a:solidFill>
              </a:defRPr>
            </a:pPr>
            <a:r>
              <a:rPr sz="1425" b="1">
                <a:solidFill>
                  <a:srgbClr val="FF6A00"/>
                </a:solidFill>
              </a:rPr>
              <a:t>06</a:t>
            </a:r>
          </a:p>
        </p:txBody>
      </p:sp>
      <p:sp>
        <p:nvSpPr>
          <p:cNvPr id="21" name="agenda-5">
            <a:extLst xmlns:a="http://schemas.openxmlformats.org/drawingml/2006/main">
              <a:ext uri="{FF2B5EF4-FFF2-40B4-BE49-F238E27FC236}">
                <a16:creationId xmlns:a16="http://schemas.microsoft.com/office/drawing/2014/main" id="{D5392217-68C2-46E4-9672-CD2139A4B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248150"/>
            <a:ext cx="4000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71717"/>
                </a:solidFill>
              </a:defRPr>
            </a:pPr>
            <a:r>
              <a:rPr sz="1950" b="1">
                <a:solidFill>
                  <a:srgbClr val="171717"/>
                </a:solidFill>
              </a:rPr>
              <a:t>결과 및 향후 과제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232A6CF-B441-4972-8603-61223E598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4838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73849630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num-3">
            <a:extLst xmlns:a="http://schemas.openxmlformats.org/drawingml/2006/main">
              <a:ext uri="{FF2B5EF4-FFF2-40B4-BE49-F238E27FC236}">
                <a16:creationId xmlns:a16="http://schemas.microsoft.com/office/drawing/2014/main" id="{221BAEE1-1010-42E2-9E88-3C6667995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2" name="title-3">
            <a:extLst xmlns:a="http://schemas.openxmlformats.org/drawingml/2006/main">
              <a:ext uri="{FF2B5EF4-FFF2-40B4-BE49-F238E27FC236}">
                <a16:creationId xmlns:a16="http://schemas.microsoft.com/office/drawing/2014/main" id="{328F62F1-CC6A-4307-8187-F07C5A52D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개발 배경과 목표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84B5E01-1A0E-4359-B2B9-D891AA848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3">
            <a:extLst xmlns:a="http://schemas.openxmlformats.org/drawingml/2006/main">
              <a:ext uri="{FF2B5EF4-FFF2-40B4-BE49-F238E27FC236}">
                <a16:creationId xmlns:a16="http://schemas.microsoft.com/office/drawing/2014/main" id="{15DB0A89-92D0-4E8B-8609-28D0DE5E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claim">
            <a:extLst xmlns:a="http://schemas.openxmlformats.org/drawingml/2006/main">
              <a:ext uri="{FF2B5EF4-FFF2-40B4-BE49-F238E27FC236}">
                <a16:creationId xmlns:a16="http://schemas.microsoft.com/office/drawing/2014/main" id="{073290F4-C19A-4AC3-9352-263A1BF9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7150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컨테이너 상태와 자원 정보를</a:t>
            </a:r>
          </a:p>
          <a:p xmlns:a="http://schemas.openxmlformats.org/drawingml/2006/main">
            <a:pPr algn="l">
              <a:defRPr sz="2850" b="1">
                <a:solidFill>
                  <a:srgbClr val="171717"/>
                </a:solidFill>
              </a:defRPr>
            </a:pPr>
            <a:r>
              <a:rPr sz="2850" b="1">
                <a:solidFill>
                  <a:srgbClr val="171717"/>
                </a:solidFill>
              </a:rPr>
              <a:t>한 화면에서 빠르게 확인한다</a:t>
            </a:r>
          </a:p>
        </p:txBody>
      </p:sp>
      <p:sp>
        <p:nvSpPr>
          <p:cNvPr id="6" name="body">
            <a:extLst xmlns:a="http://schemas.openxmlformats.org/drawingml/2006/main">
              <a:ext uri="{FF2B5EF4-FFF2-40B4-BE49-F238E27FC236}">
                <a16:creationId xmlns:a16="http://schemas.microsoft.com/office/drawing/2014/main" id="{1975B089-CF17-4A29-95AE-DEF91FF8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5286375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55555"/>
                </a:solidFill>
              </a:defRPr>
            </a:pPr>
            <a:r>
              <a:rPr sz="1500" b="0">
                <a:solidFill>
                  <a:srgbClr val="555555"/>
                </a:solidFill>
              </a:rPr>
              <a:t>운영자가 여러 명령어를 반복 입력하지 않아도 현재 상태를 이해하고, 필요한 관리 작업으로 연결할 수 있는 웹 대시보드를 목표로 했다.</a:t>
            </a:r>
          </a:p>
        </p:txBody>
      </p:sp>
      <p:sp>
        <p:nvSpPr>
          <p:cNvPr id="7" name="goal-panel">
            <a:extLst xmlns:a="http://schemas.openxmlformats.org/drawingml/2006/main">
              <a:ext uri="{FF2B5EF4-FFF2-40B4-BE49-F238E27FC236}">
                <a16:creationId xmlns:a16="http://schemas.microsoft.com/office/drawing/2014/main" id="{7082242D-E8F2-4C9E-9196-9FE4D82B7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1809750"/>
            <a:ext cx="4381500" cy="304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goal-label">
            <a:extLst xmlns:a="http://schemas.openxmlformats.org/drawingml/2006/main">
              <a:ext uri="{FF2B5EF4-FFF2-40B4-BE49-F238E27FC236}">
                <a16:creationId xmlns:a16="http://schemas.microsoft.com/office/drawing/2014/main" id="{D3752BA2-1898-40E8-9BF5-DB9624C1BA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095500"/>
            <a:ext cx="1809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핵심 목표</a:t>
            </a:r>
          </a:p>
        </p:txBody>
      </p:sp>
      <p:sp>
        <p:nvSpPr>
          <p:cNvPr id="9" name="dot-0">
            <a:extLst xmlns:a="http://schemas.openxmlformats.org/drawingml/2006/main">
              <a:ext uri="{FF2B5EF4-FFF2-40B4-BE49-F238E27FC236}">
                <a16:creationId xmlns:a16="http://schemas.microsoft.com/office/drawing/2014/main" id="{C3538D19-0241-4D76-AAC7-10BBA6700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27051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goal-0">
            <a:extLst xmlns:a="http://schemas.openxmlformats.org/drawingml/2006/main">
              <a:ext uri="{FF2B5EF4-FFF2-40B4-BE49-F238E27FC236}">
                <a16:creationId xmlns:a16="http://schemas.microsoft.com/office/drawing/2014/main" id="{CB521DE2-4A6E-4B31-87B4-E8BD316C9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25908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실행·중지·오류 상태 요약</a:t>
            </a:r>
          </a:p>
        </p:txBody>
      </p:sp>
      <p:sp>
        <p:nvSpPr>
          <p:cNvPr id="11" name="dot-1">
            <a:extLst xmlns:a="http://schemas.openxmlformats.org/drawingml/2006/main">
              <a:ext uri="{FF2B5EF4-FFF2-40B4-BE49-F238E27FC236}">
                <a16:creationId xmlns:a16="http://schemas.microsoft.com/office/drawing/2014/main" id="{4414A63C-E730-4C85-9CBB-1F5E1D30B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2004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goal-1">
            <a:extLst xmlns:a="http://schemas.openxmlformats.org/drawingml/2006/main">
              <a:ext uri="{FF2B5EF4-FFF2-40B4-BE49-F238E27FC236}">
                <a16:creationId xmlns:a16="http://schemas.microsoft.com/office/drawing/2014/main" id="{F32F5101-80CB-4EB0-B2FE-4A9298CC3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861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CPU·메모리 등 자원 현황 확인</a:t>
            </a:r>
          </a:p>
        </p:txBody>
      </p:sp>
      <p:sp>
        <p:nvSpPr>
          <p:cNvPr id="13" name="dot-2">
            <a:extLst xmlns:a="http://schemas.openxmlformats.org/drawingml/2006/main">
              <a:ext uri="{FF2B5EF4-FFF2-40B4-BE49-F238E27FC236}">
                <a16:creationId xmlns:a16="http://schemas.microsoft.com/office/drawing/2014/main" id="{15BEB079-A05C-4B1F-8B0B-97C328D3D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36957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goal-2">
            <a:extLst xmlns:a="http://schemas.openxmlformats.org/drawingml/2006/main">
              <a:ext uri="{FF2B5EF4-FFF2-40B4-BE49-F238E27FC236}">
                <a16:creationId xmlns:a16="http://schemas.microsoft.com/office/drawing/2014/main" id="{178C9D3F-74C8-4784-B47A-1974209A7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5814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컨테이너 목록과 이미지·포트 표시</a:t>
            </a:r>
          </a:p>
        </p:txBody>
      </p:sp>
      <p:sp>
        <p:nvSpPr>
          <p:cNvPr id="15" name="dot-3">
            <a:extLst xmlns:a="http://schemas.openxmlformats.org/drawingml/2006/main">
              <a:ext uri="{FF2B5EF4-FFF2-40B4-BE49-F238E27FC236}">
                <a16:creationId xmlns:a16="http://schemas.microsoft.com/office/drawing/2014/main" id="{C36032FF-DD94-45CC-8943-C46F13056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0" y="4191000"/>
            <a:ext cx="114300" cy="1143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goal-3">
            <a:extLst xmlns:a="http://schemas.openxmlformats.org/drawingml/2006/main">
              <a:ext uri="{FF2B5EF4-FFF2-40B4-BE49-F238E27FC236}">
                <a16:creationId xmlns:a16="http://schemas.microsoft.com/office/drawing/2014/main" id="{F122A958-E263-4501-870B-DC3BC7B67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4076700"/>
            <a:ext cx="32194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PostgreSQL 데이터 기반 실시간 조회</a:t>
            </a:r>
          </a:p>
        </p:txBody>
      </p:sp>
      <p:sp>
        <p:nvSpPr>
          <p:cNvPr id="17" name="why">
            <a:extLst xmlns:a="http://schemas.openxmlformats.org/drawingml/2006/main">
              <a:ext uri="{FF2B5EF4-FFF2-40B4-BE49-F238E27FC236}">
                <a16:creationId xmlns:a16="http://schemas.microsoft.com/office/drawing/2014/main" id="{07B13C99-E7FB-4E1D-8241-D3FAF42A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95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WHY</a:t>
            </a:r>
          </a:p>
        </p:txBody>
      </p:sp>
      <p:sp>
        <p:nvSpPr>
          <p:cNvPr id="18" name="why-answer">
            <a:extLst xmlns:a="http://schemas.openxmlformats.org/drawingml/2006/main">
              <a:ext uri="{FF2B5EF4-FFF2-40B4-BE49-F238E27FC236}">
                <a16:creationId xmlns:a16="http://schemas.microsoft.com/office/drawing/2014/main" id="{80AFE50E-2A66-44DC-85C2-7E90F8F9C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276850"/>
            <a:ext cx="8286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복잡한 관리 정보를 “현재 상태를 판단할 수 있는 정보”로 단순화</a:t>
            </a:r>
          </a:p>
        </p:txBody>
      </p:sp>
    </p:spTree>
    <p:extLst>
      <p:ext uri="{BB962C8B-B14F-4D97-AF65-F5344CB8AC3E}">
        <p14:creationId xmlns:p14="http://schemas.microsoft.com/office/powerpoint/2010/main" val="43776344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num-4">
            <a:extLst xmlns:a="http://schemas.openxmlformats.org/drawingml/2006/main">
              <a:ext uri="{FF2B5EF4-FFF2-40B4-BE49-F238E27FC236}">
                <a16:creationId xmlns:a16="http://schemas.microsoft.com/office/drawing/2014/main" id="{E44C637C-90F2-4F02-80AB-F5FA1E93F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2" name="title-4">
            <a:extLst xmlns:a="http://schemas.openxmlformats.org/drawingml/2006/main">
              <a:ext uri="{FF2B5EF4-FFF2-40B4-BE49-F238E27FC236}">
                <a16:creationId xmlns:a16="http://schemas.microsoft.com/office/drawing/2014/main" id="{5E776894-275C-4B1B-A76D-D11804992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시스템은 화면–서버–DB의 3단 구조로 동작한다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335E7F-50D9-4500-B78A-E7ADF7DE6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footer-4">
            <a:extLst xmlns:a="http://schemas.openxmlformats.org/drawingml/2006/main">
              <a:ext uri="{FF2B5EF4-FFF2-40B4-BE49-F238E27FC236}">
                <a16:creationId xmlns:a16="http://schemas.microsoft.com/office/drawing/2014/main" id="{395A0283-FC3A-4CFE-8509-F6153433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77777"/>
                </a:solidFill>
              </a:defRPr>
            </a:pPr>
            <a:r>
              <a:rPr sz="750" b="1">
                <a:solidFill>
                  <a:srgbClr val="777777"/>
                </a:solidFill>
              </a:rPr>
              <a:t>LCX CONTAINER MANAGEMENT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230485C-185C-46C7-902C-2FD00A65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432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6F6F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76DE2-AF57-4C72-A075-6E017591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38950" y="3143250"/>
            <a:ext cx="10096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F6F6F"/>
            </a:solidFill>
            <a:prstDash val="solid"/>
          </a:ln>
        </p:spPr>
      </p:sp>
      <p:sp>
        <p:nvSpPr>
          <p:cNvPr id="7" name="http">
            <a:extLst xmlns:a="http://schemas.openxmlformats.org/drawingml/2006/main">
              <a:ext uri="{FF2B5EF4-FFF2-40B4-BE49-F238E27FC236}">
                <a16:creationId xmlns:a16="http://schemas.microsoft.com/office/drawing/2014/main" id="{9C21CEA3-4D4F-44B2-B785-AC766EDA7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8050" y="27813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A00"/>
                </a:solidFill>
              </a:defRPr>
            </a:pPr>
            <a:r>
              <a:rPr sz="900" b="1">
                <a:solidFill>
                  <a:srgbClr val="FF6A00"/>
                </a:solidFill>
              </a:rPr>
              <a:t>HTTP / JSON</a:t>
            </a:r>
          </a:p>
        </p:txBody>
      </p:sp>
      <p:sp>
        <p:nvSpPr>
          <p:cNvPr id="8" name="sql">
            <a:extLst xmlns:a="http://schemas.openxmlformats.org/drawingml/2006/main">
              <a:ext uri="{FF2B5EF4-FFF2-40B4-BE49-F238E27FC236}">
                <a16:creationId xmlns:a16="http://schemas.microsoft.com/office/drawing/2014/main" id="{FF6079A3-3DB6-47E5-8E26-A80B8B8797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781300"/>
            <a:ext cx="57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6A00"/>
                </a:solidFill>
              </a:defRPr>
            </a:pPr>
            <a:r>
              <a:rPr sz="900" b="1">
                <a:solidFill>
                  <a:srgbClr val="FF6A00"/>
                </a:solidFill>
              </a:rPr>
              <a:t>SQL</a:t>
            </a:r>
          </a:p>
        </p:txBody>
      </p:sp>
      <p:sp>
        <p:nvSpPr>
          <p:cNvPr id="9" name="arch-0">
            <a:extLst xmlns:a="http://schemas.openxmlformats.org/drawingml/2006/main">
              <a:ext uri="{FF2B5EF4-FFF2-40B4-BE49-F238E27FC236}">
                <a16:creationId xmlns:a16="http://schemas.microsoft.com/office/drawing/2014/main" id="{62A740B6-1B51-4B9E-959C-B37B51FE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0764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414141"/>
            </a:solidFill>
            <a:prstDash val="solid"/>
          </a:ln>
        </p:spPr>
      </p:sp>
      <p:sp>
        <p:nvSpPr>
          <p:cNvPr id="10" name="arch-t-0">
            <a:extLst xmlns:a="http://schemas.openxmlformats.org/drawingml/2006/main">
              <a:ext uri="{FF2B5EF4-FFF2-40B4-BE49-F238E27FC236}">
                <a16:creationId xmlns:a16="http://schemas.microsoft.com/office/drawing/2014/main" id="{C556BC70-682B-401F-8822-504DED26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3050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CLIENT</a:t>
            </a:r>
          </a:p>
        </p:txBody>
      </p:sp>
      <p:sp>
        <p:nvSpPr>
          <p:cNvPr id="11" name="arch-b-0">
            <a:extLst xmlns:a="http://schemas.openxmlformats.org/drawingml/2006/main">
              <a:ext uri="{FF2B5EF4-FFF2-40B4-BE49-F238E27FC236}">
                <a16:creationId xmlns:a16="http://schemas.microsoft.com/office/drawing/2014/main" id="{CE276BC1-7E2C-4A69-BFED-55B7B2A99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895600"/>
            <a:ext cx="2019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HTML · CSS · JavaScript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대시보드 렌더링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새로고침 요청</a:t>
            </a:r>
          </a:p>
        </p:txBody>
      </p:sp>
      <p:sp>
        <p:nvSpPr>
          <p:cNvPr id="12" name="arch-1">
            <a:extLst xmlns:a="http://schemas.openxmlformats.org/drawingml/2006/main">
              <a:ext uri="{FF2B5EF4-FFF2-40B4-BE49-F238E27FC236}">
                <a16:creationId xmlns:a16="http://schemas.microsoft.com/office/drawing/2014/main" id="{00992407-0272-4A18-80B0-CAD0F6966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20764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arch-t-1">
            <a:extLst xmlns:a="http://schemas.openxmlformats.org/drawingml/2006/main">
              <a:ext uri="{FF2B5EF4-FFF2-40B4-BE49-F238E27FC236}">
                <a16:creationId xmlns:a16="http://schemas.microsoft.com/office/drawing/2014/main" id="{9CEDBD5C-8650-44B9-BA35-71FBEC677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3050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B0B0B"/>
                </a:solidFill>
              </a:defRPr>
            </a:pPr>
            <a:r>
              <a:rPr sz="1350" b="1">
                <a:solidFill>
                  <a:srgbClr val="0B0B0B"/>
                </a:solidFill>
              </a:rPr>
              <a:t>NODE.JS SERVER</a:t>
            </a:r>
          </a:p>
        </p:txBody>
      </p:sp>
      <p:sp>
        <p:nvSpPr>
          <p:cNvPr id="14" name="arch-b-1">
            <a:extLst xmlns:a="http://schemas.openxmlformats.org/drawingml/2006/main">
              <a:ext uri="{FF2B5EF4-FFF2-40B4-BE49-F238E27FC236}">
                <a16:creationId xmlns:a16="http://schemas.microsoft.com/office/drawing/2014/main" id="{4F7B276E-AB32-4A94-AA1A-7F646FA1C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895600"/>
            <a:ext cx="2019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정적 파일 제공</a:t>
            </a:r>
          </a:p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GET /api/dashboard</a:t>
            </a:r>
          </a:p>
          <a:p xmlns:a="http://schemas.openxmlformats.org/drawingml/2006/main">
            <a:pPr algn="l">
              <a:defRPr sz="1350" b="0">
                <a:solidFill>
                  <a:srgbClr val="0B0B0B"/>
                </a:solidFill>
              </a:defRPr>
            </a:pPr>
            <a:r>
              <a:rPr sz="1350" b="0">
                <a:solidFill>
                  <a:srgbClr val="0B0B0B"/>
                </a:solidFill>
              </a:rPr>
              <a:t>요약 데이터 계산</a:t>
            </a:r>
          </a:p>
        </p:txBody>
      </p:sp>
      <p:sp>
        <p:nvSpPr>
          <p:cNvPr id="15" name="arch-2">
            <a:extLst xmlns:a="http://schemas.openxmlformats.org/drawingml/2006/main">
              <a:ext uri="{FF2B5EF4-FFF2-40B4-BE49-F238E27FC236}">
                <a16:creationId xmlns:a16="http://schemas.microsoft.com/office/drawing/2014/main" id="{5848CCBE-937A-42D0-909A-56C2AE5EC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076450"/>
            <a:ext cx="2476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C1C1C"/>
          </a:solidFill>
          <a:ln xmlns:a="http://schemas.openxmlformats.org/drawingml/2006/main" w="9525">
            <a:solidFill>
              <a:srgbClr val="414141"/>
            </a:solidFill>
            <a:prstDash val="solid"/>
          </a:ln>
        </p:spPr>
      </p:sp>
      <p:sp>
        <p:nvSpPr>
          <p:cNvPr id="16" name="arch-t-2">
            <a:extLst xmlns:a="http://schemas.openxmlformats.org/drawingml/2006/main">
              <a:ext uri="{FF2B5EF4-FFF2-40B4-BE49-F238E27FC236}">
                <a16:creationId xmlns:a16="http://schemas.microsoft.com/office/drawing/2014/main" id="{8945F8A3-6913-468C-8E02-4C2A7AAB05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305050"/>
            <a:ext cx="201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6A00"/>
                </a:solidFill>
              </a:defRPr>
            </a:pPr>
            <a:r>
              <a:rPr sz="1350" b="1">
                <a:solidFill>
                  <a:srgbClr val="FF6A00"/>
                </a:solidFill>
              </a:rPr>
              <a:t>POSTGRESQL</a:t>
            </a:r>
          </a:p>
        </p:txBody>
      </p:sp>
      <p:sp>
        <p:nvSpPr>
          <p:cNvPr id="17" name="arch-b-2">
            <a:extLst xmlns:a="http://schemas.openxmlformats.org/drawingml/2006/main">
              <a:ext uri="{FF2B5EF4-FFF2-40B4-BE49-F238E27FC236}">
                <a16:creationId xmlns:a16="http://schemas.microsoft.com/office/drawing/2014/main" id="{E5D44A17-3705-416D-84F5-A47F6D616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95600"/>
            <a:ext cx="20193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containers 테이블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상태·이미지·포트</a:t>
            </a:r>
          </a:p>
          <a:p xmlns:a="http://schemas.openxmlformats.org/drawingml/2006/main">
            <a:pPr algn="l">
              <a:defRPr sz="1350" b="0">
                <a:solidFill>
                  <a:srgbClr val="FFFFFF"/>
                </a:solidFill>
              </a:defRPr>
            </a:pPr>
            <a:r>
              <a:rPr sz="1350" b="0">
                <a:solidFill>
                  <a:srgbClr val="FFFFFF"/>
                </a:solidFill>
              </a:rPr>
              <a:t>CPU·메모리 저장</a:t>
            </a:r>
          </a:p>
        </p:txBody>
      </p:sp>
      <p:sp>
        <p:nvSpPr>
          <p:cNvPr id="18" name="flow1">
            <a:extLst xmlns:a="http://schemas.openxmlformats.org/drawingml/2006/main">
              <a:ext uri="{FF2B5EF4-FFF2-40B4-BE49-F238E27FC236}">
                <a16:creationId xmlns:a16="http://schemas.microsoft.com/office/drawing/2014/main" id="{F79DFD7E-2ED5-42A0-9070-03D30E66F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58585"/>
                </a:solidFill>
              </a:defRPr>
            </a:pPr>
            <a:r>
              <a:rPr sz="1050" b="1">
                <a:solidFill>
                  <a:srgbClr val="858585"/>
                </a:solidFill>
              </a:rPr>
              <a:t>사용자 요청</a:t>
            </a:r>
          </a:p>
        </p:txBody>
      </p:sp>
      <p:sp>
        <p:nvSpPr>
          <p:cNvPr id="19" name="flow2">
            <a:extLst xmlns:a="http://schemas.openxmlformats.org/drawingml/2006/main">
              <a:ext uri="{FF2B5EF4-FFF2-40B4-BE49-F238E27FC236}">
                <a16:creationId xmlns:a16="http://schemas.microsoft.com/office/drawing/2014/main" id="{26F988D5-46A3-44FB-BF55-57ABE5532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58585"/>
                </a:solidFill>
              </a:defRPr>
            </a:pPr>
            <a:r>
              <a:rPr sz="1050" b="1">
                <a:solidFill>
                  <a:srgbClr val="858585"/>
                </a:solidFill>
              </a:rPr>
              <a:t>조회 및 요약</a:t>
            </a:r>
          </a:p>
        </p:txBody>
      </p:sp>
      <p:sp>
        <p:nvSpPr>
          <p:cNvPr id="20" name="flow3">
            <a:extLst xmlns:a="http://schemas.openxmlformats.org/drawingml/2006/main">
              <a:ext uri="{FF2B5EF4-FFF2-40B4-BE49-F238E27FC236}">
                <a16:creationId xmlns:a16="http://schemas.microsoft.com/office/drawing/2014/main" id="{D0845DF8-0453-4ED6-9FFC-658BBDAB1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991100"/>
            <a:ext cx="2476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858585"/>
                </a:solidFill>
              </a:defRPr>
            </a:pPr>
            <a:r>
              <a:rPr sz="1050" b="1">
                <a:solidFill>
                  <a:srgbClr val="858585"/>
                </a:solidFill>
              </a:rPr>
              <a:t>영속 데이터</a:t>
            </a:r>
          </a:p>
        </p:txBody>
      </p:sp>
    </p:spTree>
    <p:extLst>
      <p:ext uri="{BB962C8B-B14F-4D97-AF65-F5344CB8AC3E}">
        <p14:creationId xmlns:p14="http://schemas.microsoft.com/office/powerpoint/2010/main" val="91229696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num-5">
            <a:extLst xmlns:a="http://schemas.openxmlformats.org/drawingml/2006/main">
              <a:ext uri="{FF2B5EF4-FFF2-40B4-BE49-F238E27FC236}">
                <a16:creationId xmlns:a16="http://schemas.microsoft.com/office/drawing/2014/main" id="{2C8795CF-E55C-4374-8840-5074992AE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05</a:t>
            </a:r>
          </a:p>
        </p:txBody>
      </p:sp>
      <p:sp>
        <p:nvSpPr>
          <p:cNvPr id="2" name="title-5">
            <a:extLst xmlns:a="http://schemas.openxmlformats.org/drawingml/2006/main">
              <a:ext uri="{FF2B5EF4-FFF2-40B4-BE49-F238E27FC236}">
                <a16:creationId xmlns:a16="http://schemas.microsoft.com/office/drawing/2014/main" id="{01B6586E-5275-47E1-B461-DB04DA769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관리자가 필요한 핵심 정보를 한 번에 제공한다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C11FAC7-A6ED-44A7-8702-856B99164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5">
            <a:extLst xmlns:a="http://schemas.openxmlformats.org/drawingml/2006/main">
              <a:ext uri="{FF2B5EF4-FFF2-40B4-BE49-F238E27FC236}">
                <a16:creationId xmlns:a16="http://schemas.microsoft.com/office/drawing/2014/main" id="{AED1663C-85C9-45CA-96C5-FD1DFC51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feature-n-0">
            <a:extLst xmlns:a="http://schemas.openxmlformats.org/drawingml/2006/main">
              <a:ext uri="{FF2B5EF4-FFF2-40B4-BE49-F238E27FC236}">
                <a16:creationId xmlns:a16="http://schemas.microsoft.com/office/drawing/2014/main" id="{0E8342E3-67EE-4DA0-8BAC-31677ACB9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7907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6" name="feature-t-0">
            <a:extLst xmlns:a="http://schemas.openxmlformats.org/drawingml/2006/main">
              <a:ext uri="{FF2B5EF4-FFF2-40B4-BE49-F238E27FC236}">
                <a16:creationId xmlns:a16="http://schemas.microsoft.com/office/drawing/2014/main" id="{3FC6E7FA-0DDD-4F18-8848-28C29D6B5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17526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상태 요약</a:t>
            </a:r>
          </a:p>
        </p:txBody>
      </p:sp>
      <p:sp>
        <p:nvSpPr>
          <p:cNvPr id="7" name="feature-b-0">
            <a:extLst xmlns:a="http://schemas.openxmlformats.org/drawingml/2006/main">
              <a:ext uri="{FF2B5EF4-FFF2-40B4-BE49-F238E27FC236}">
                <a16:creationId xmlns:a16="http://schemas.microsoft.com/office/drawing/2014/main" id="{BFDD3E28-B601-4387-9506-EDF7A4A15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7907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전체·실행·중지·오류 수를 상단에서 즉시 확인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2DD2891-84A9-4772-A389-64F109F6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3812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9" name="feature-n-1">
            <a:extLst xmlns:a="http://schemas.openxmlformats.org/drawingml/2006/main">
              <a:ext uri="{FF2B5EF4-FFF2-40B4-BE49-F238E27FC236}">
                <a16:creationId xmlns:a16="http://schemas.microsoft.com/office/drawing/2014/main" id="{F035063C-767C-4787-94A9-DA363290E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813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0" name="feature-t-1">
            <a:extLst xmlns:a="http://schemas.openxmlformats.org/drawingml/2006/main">
              <a:ext uri="{FF2B5EF4-FFF2-40B4-BE49-F238E27FC236}">
                <a16:creationId xmlns:a16="http://schemas.microsoft.com/office/drawing/2014/main" id="{07B1FEC6-5D58-4462-9E9C-07BEFF87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27432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자원 현황</a:t>
            </a:r>
          </a:p>
        </p:txBody>
      </p:sp>
      <p:sp>
        <p:nvSpPr>
          <p:cNvPr id="11" name="feature-b-1">
            <a:extLst xmlns:a="http://schemas.openxmlformats.org/drawingml/2006/main">
              <a:ext uri="{FF2B5EF4-FFF2-40B4-BE49-F238E27FC236}">
                <a16:creationId xmlns:a16="http://schemas.microsoft.com/office/drawing/2014/main" id="{3FB87E7B-8DBF-4F83-B941-BC6770B68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7813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CPU·메모리·디스크와 기타 자원을 묶어 표시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2A037EE-1B14-4AB5-B188-8489AA8D48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3718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3" name="feature-n-2">
            <a:extLst xmlns:a="http://schemas.openxmlformats.org/drawingml/2006/main">
              <a:ext uri="{FF2B5EF4-FFF2-40B4-BE49-F238E27FC236}">
                <a16:creationId xmlns:a16="http://schemas.microsoft.com/office/drawing/2014/main" id="{6BDD9DE2-33E2-427A-95E0-7DF7EACE23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719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4" name="feature-t-2">
            <a:extLst xmlns:a="http://schemas.openxmlformats.org/drawingml/2006/main">
              <a:ext uri="{FF2B5EF4-FFF2-40B4-BE49-F238E27FC236}">
                <a16:creationId xmlns:a16="http://schemas.microsoft.com/office/drawing/2014/main" id="{3FA4E883-9B64-4122-BB28-7BA3C4BF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37338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컨테이너 목록</a:t>
            </a:r>
          </a:p>
        </p:txBody>
      </p:sp>
      <p:sp>
        <p:nvSpPr>
          <p:cNvPr id="15" name="feature-b-2">
            <a:extLst xmlns:a="http://schemas.openxmlformats.org/drawingml/2006/main">
              <a:ext uri="{FF2B5EF4-FFF2-40B4-BE49-F238E27FC236}">
                <a16:creationId xmlns:a16="http://schemas.microsoft.com/office/drawing/2014/main" id="{80BEDA0A-6DAF-479A-B519-A9B0BD88B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37719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이름·상태·이미지·포트·사용량을 표로 정리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AD03D03-4ACA-4020-8430-4513AA191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3624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17" name="feature-n-3">
            <a:extLst xmlns:a="http://schemas.openxmlformats.org/drawingml/2006/main">
              <a:ext uri="{FF2B5EF4-FFF2-40B4-BE49-F238E27FC236}">
                <a16:creationId xmlns:a16="http://schemas.microsoft.com/office/drawing/2014/main" id="{145457F7-AE59-4FD2-8C91-1D8BB75E1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62500"/>
            <a:ext cx="5143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FF6A00"/>
                </a:solidFill>
              </a:defRPr>
            </a:pPr>
            <a:r>
              <a:rPr sz="195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18" name="feature-t-3">
            <a:extLst xmlns:a="http://schemas.openxmlformats.org/drawingml/2006/main">
              <a:ext uri="{FF2B5EF4-FFF2-40B4-BE49-F238E27FC236}">
                <a16:creationId xmlns:a16="http://schemas.microsoft.com/office/drawing/2014/main" id="{FEBB9CD7-A2F0-418C-836D-1BC5A1E45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4724400"/>
            <a:ext cx="228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71717"/>
                </a:solidFill>
              </a:defRPr>
            </a:pPr>
            <a:r>
              <a:rPr sz="1875" b="1">
                <a:solidFill>
                  <a:srgbClr val="171717"/>
                </a:solidFill>
              </a:rPr>
              <a:t>수동 갱신</a:t>
            </a:r>
          </a:p>
        </p:txBody>
      </p:sp>
      <p:sp>
        <p:nvSpPr>
          <p:cNvPr id="19" name="feature-b-3">
            <a:extLst xmlns:a="http://schemas.openxmlformats.org/drawingml/2006/main">
              <a:ext uri="{FF2B5EF4-FFF2-40B4-BE49-F238E27FC236}">
                <a16:creationId xmlns:a16="http://schemas.microsoft.com/office/drawing/2014/main" id="{FA31F05A-59E0-46DF-B989-58FAF850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4762500"/>
            <a:ext cx="6762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55555"/>
                </a:solidFill>
              </a:defRPr>
            </a:pPr>
            <a:r>
              <a:rPr sz="1350" b="0">
                <a:solidFill>
                  <a:srgbClr val="555555"/>
                </a:solidFill>
              </a:rPr>
              <a:t>새로고침 버튼으로 최신 대시보드 데이터를 재요청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3BEAC0-0ECA-443A-A798-C3B73574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3050" y="5353050"/>
            <a:ext cx="9315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6A00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35056497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num-6">
            <a:extLst xmlns:a="http://schemas.openxmlformats.org/drawingml/2006/main">
              <a:ext uri="{FF2B5EF4-FFF2-40B4-BE49-F238E27FC236}">
                <a16:creationId xmlns:a16="http://schemas.microsoft.com/office/drawing/2014/main" id="{9F5EBE85-23A9-49E8-ACA4-1ADAB941E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06</a:t>
            </a:r>
          </a:p>
        </p:txBody>
      </p:sp>
      <p:sp>
        <p:nvSpPr>
          <p:cNvPr id="2" name="title-6">
            <a:extLst xmlns:a="http://schemas.openxmlformats.org/drawingml/2006/main">
              <a:ext uri="{FF2B5EF4-FFF2-40B4-BE49-F238E27FC236}">
                <a16:creationId xmlns:a16="http://schemas.microsoft.com/office/drawing/2014/main" id="{2B42D8FA-A0A9-4F3C-82F9-F1740998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데이터 모델과 API가 화면 표시를 직접 지원한다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577BC94-4E44-43F8-9E0E-B6F0972C9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footer-6">
            <a:extLst xmlns:a="http://schemas.openxmlformats.org/drawingml/2006/main">
              <a:ext uri="{FF2B5EF4-FFF2-40B4-BE49-F238E27FC236}">
                <a16:creationId xmlns:a16="http://schemas.microsoft.com/office/drawing/2014/main" id="{EF32DBAD-B86B-439F-B301-39A174800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77777"/>
                </a:solidFill>
              </a:defRPr>
            </a:pPr>
            <a:r>
              <a:rPr sz="750" b="1">
                <a:solidFill>
                  <a:srgbClr val="777777"/>
                </a:solidFill>
              </a:rPr>
              <a:t>LCX CONTAINER MANAGEMENT</a:t>
            </a:r>
          </a:p>
        </p:txBody>
      </p:sp>
      <p:sp>
        <p:nvSpPr>
          <p:cNvPr id="5" name="db-label">
            <a:extLst xmlns:a="http://schemas.openxmlformats.org/drawingml/2006/main">
              <a:ext uri="{FF2B5EF4-FFF2-40B4-BE49-F238E27FC236}">
                <a16:creationId xmlns:a16="http://schemas.microsoft.com/office/drawing/2014/main" id="{EF619720-1ED9-4472-9AF6-EB4473491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09750"/>
            <a:ext cx="190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DATABASE</a:t>
            </a:r>
          </a:p>
        </p:txBody>
      </p:sp>
      <p:sp>
        <p:nvSpPr>
          <p:cNvPr id="6" name="db-title">
            <a:extLst xmlns:a="http://schemas.openxmlformats.org/drawingml/2006/main">
              <a:ext uri="{FF2B5EF4-FFF2-40B4-BE49-F238E27FC236}">
                <a16:creationId xmlns:a16="http://schemas.microsoft.com/office/drawing/2014/main" id="{31770CCF-21B9-4F0A-8B97-2AB86823E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71700"/>
            <a:ext cx="400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</a:rPr>
              <a:t>containers</a:t>
            </a:r>
          </a:p>
        </p:txBody>
      </p:sp>
      <p:sp>
        <p:nvSpPr>
          <p:cNvPr id="7" name="field-0">
            <a:extLst xmlns:a="http://schemas.openxmlformats.org/drawingml/2006/main">
              <a:ext uri="{FF2B5EF4-FFF2-40B4-BE49-F238E27FC236}">
                <a16:creationId xmlns:a16="http://schemas.microsoft.com/office/drawing/2014/main" id="{F29E53D7-27B3-42E9-868C-A046B13B3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956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id · name · status</a:t>
            </a:r>
          </a:p>
        </p:txBody>
      </p:sp>
      <p:sp>
        <p:nvSpPr>
          <p:cNvPr id="8" name="field-1">
            <a:extLst xmlns:a="http://schemas.openxmlformats.org/drawingml/2006/main">
              <a:ext uri="{FF2B5EF4-FFF2-40B4-BE49-F238E27FC236}">
                <a16:creationId xmlns:a16="http://schemas.microsoft.com/office/drawing/2014/main" id="{D8D12FFC-7D8D-4974-9997-4C1661FF6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718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B8B8"/>
                </a:solidFill>
              </a:defRPr>
            </a:pPr>
            <a:r>
              <a:rPr sz="1350" b="0">
                <a:solidFill>
                  <a:srgbClr val="B8B8B8"/>
                </a:solidFill>
              </a:rPr>
              <a:t>image · ports</a:t>
            </a:r>
          </a:p>
        </p:txBody>
      </p:sp>
      <p:sp>
        <p:nvSpPr>
          <p:cNvPr id="9" name="field-2">
            <a:extLst xmlns:a="http://schemas.openxmlformats.org/drawingml/2006/main">
              <a:ext uri="{FF2B5EF4-FFF2-40B4-BE49-F238E27FC236}">
                <a16:creationId xmlns:a16="http://schemas.microsoft.com/office/drawing/2014/main" id="{7E04BDAA-DE26-41C5-BA0A-67DDDC918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4810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B8B8"/>
                </a:solidFill>
              </a:defRPr>
            </a:pPr>
            <a:r>
              <a:rPr sz="1350" b="0">
                <a:solidFill>
                  <a:srgbClr val="B8B8B8"/>
                </a:solidFill>
              </a:rPr>
              <a:t>cpu_percent · memory_mb</a:t>
            </a:r>
          </a:p>
        </p:txBody>
      </p:sp>
      <p:sp>
        <p:nvSpPr>
          <p:cNvPr id="10" name="field-3">
            <a:extLst xmlns:a="http://schemas.openxmlformats.org/drawingml/2006/main">
              <a:ext uri="{FF2B5EF4-FFF2-40B4-BE49-F238E27FC236}">
                <a16:creationId xmlns:a16="http://schemas.microsoft.com/office/drawing/2014/main" id="{5E4989DB-B9EE-412A-B24B-13568E190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3243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B8B8B8"/>
                </a:solidFill>
              </a:defRPr>
            </a:pPr>
            <a:r>
              <a:rPr sz="1350" b="0">
                <a:solidFill>
                  <a:srgbClr val="B8B8B8"/>
                </a:solidFill>
              </a:rPr>
              <a:t>created_at · updated_at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9BCA64-641E-4D71-8F9D-4316CA8A1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44444"/>
            </a:solidFill>
            <a:prstDash val="solid"/>
          </a:ln>
        </p:spPr>
      </p:sp>
      <p:sp>
        <p:nvSpPr>
          <p:cNvPr id="12" name="api-panel">
            <a:extLst xmlns:a="http://schemas.openxmlformats.org/drawingml/2006/main">
              <a:ext uri="{FF2B5EF4-FFF2-40B4-BE49-F238E27FC236}">
                <a16:creationId xmlns:a16="http://schemas.microsoft.com/office/drawing/2014/main" id="{CD6D2FC0-6F83-4A84-917D-B1477B5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650" y="1790700"/>
            <a:ext cx="5619750" cy="2971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81818"/>
          </a:solidFill>
          <a:ln xmlns:a="http://schemas.openxmlformats.org/drawingml/2006/main" w="9525">
            <a:solidFill>
              <a:srgbClr val="3D3D3D"/>
            </a:solidFill>
            <a:prstDash val="solid"/>
          </a:ln>
        </p:spPr>
      </p:sp>
      <p:sp>
        <p:nvSpPr>
          <p:cNvPr id="13" name="api-title">
            <a:extLst xmlns:a="http://schemas.openxmlformats.org/drawingml/2006/main">
              <a:ext uri="{FF2B5EF4-FFF2-40B4-BE49-F238E27FC236}">
                <a16:creationId xmlns:a16="http://schemas.microsoft.com/office/drawing/2014/main" id="{E57254FC-582E-46F7-8F08-79621A4ED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33600"/>
            <a:ext cx="476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F6A00"/>
                </a:solidFill>
              </a:defRPr>
            </a:pPr>
            <a:r>
              <a:rPr sz="1800" b="1">
                <a:solidFill>
                  <a:srgbClr val="FF6A00"/>
                </a:solidFill>
              </a:rPr>
              <a:t>GET  /api/dashboard</a:t>
            </a:r>
          </a:p>
        </p:txBody>
      </p:sp>
      <p:sp>
        <p:nvSpPr>
          <p:cNvPr id="14" name="json">
            <a:extLst xmlns:a="http://schemas.openxmlformats.org/drawingml/2006/main">
              <a:ext uri="{FF2B5EF4-FFF2-40B4-BE49-F238E27FC236}">
                <a16:creationId xmlns:a16="http://schemas.microsoft.com/office/drawing/2014/main" id="{C919B8F0-8599-4C89-A25E-8670A55DF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724150"/>
            <a:ext cx="47625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{</a:t>
            </a:r>
          </a:p>
          <a:p xmlns:a="http://schemas.openxmlformats.org/drawingml/2006/main">
            <a:pPr algn="l"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"containers": [...],</a:t>
            </a:r>
          </a:p>
          <a:p xmlns:a="http://schemas.openxmlformats.org/drawingml/2006/main">
            <a:pPr algn="l"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"summary": {</a:t>
            </a:r>
          </a:p>
          <a:p xmlns:a="http://schemas.openxmlformats.org/drawingml/2006/main">
            <a:pPr algn="l"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  "total": 3, "running": 2,</a:t>
            </a:r>
          </a:p>
          <a:p xmlns:a="http://schemas.openxmlformats.org/drawingml/2006/main">
            <a:pPr algn="l"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  "paused": 0, "errors": 0</a:t>
            </a:r>
          </a:p>
          <a:p xmlns:a="http://schemas.openxmlformats.org/drawingml/2006/main">
            <a:pPr algn="l"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  }</a:t>
            </a:r>
          </a:p>
          <a:p xmlns:a="http://schemas.openxmlformats.org/drawingml/2006/main">
            <a:pPr algn="l">
              <a:defRPr sz="1350" b="0">
                <a:solidFill>
                  <a:srgbClr val="EAEAEA"/>
                </a:solidFill>
              </a:defRPr>
            </a:pPr>
            <a:r>
              <a:rPr sz="1350" b="0">
                <a:solidFill>
                  <a:srgbClr val="EAEAEA"/>
                </a:solidFill>
              </a:rPr>
              <a:t>}</a:t>
            </a:r>
          </a:p>
        </p:txBody>
      </p:sp>
      <p:sp>
        <p:nvSpPr>
          <p:cNvPr id="15" name="constraint">
            <a:extLst xmlns:a="http://schemas.openxmlformats.org/drawingml/2006/main">
              <a:ext uri="{FF2B5EF4-FFF2-40B4-BE49-F238E27FC236}">
                <a16:creationId xmlns:a16="http://schemas.microsoft.com/office/drawing/2014/main" id="{AE2D6FE0-7A2A-4431-BE6B-0085160A0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353050"/>
            <a:ext cx="1028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CHECK 제약조건으로 상태값을 running · stopped · paused · error로 제한</a:t>
            </a:r>
          </a:p>
        </p:txBody>
      </p:sp>
    </p:spTree>
    <p:extLst>
      <p:ext uri="{BB962C8B-B14F-4D97-AF65-F5344CB8AC3E}">
        <p14:creationId xmlns:p14="http://schemas.microsoft.com/office/powerpoint/2010/main" val="17280912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5F5F2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num-7">
            <a:extLst xmlns:a="http://schemas.openxmlformats.org/drawingml/2006/main">
              <a:ext uri="{FF2B5EF4-FFF2-40B4-BE49-F238E27FC236}">
                <a16:creationId xmlns:a16="http://schemas.microsoft.com/office/drawing/2014/main" id="{5B5CF83C-1807-48CE-82B9-40CBE6889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07</a:t>
            </a:r>
          </a:p>
        </p:txBody>
      </p:sp>
      <p:sp>
        <p:nvSpPr>
          <p:cNvPr id="2" name="title-7">
            <a:extLst xmlns:a="http://schemas.openxmlformats.org/drawingml/2006/main">
              <a:ext uri="{FF2B5EF4-FFF2-40B4-BE49-F238E27FC236}">
                <a16:creationId xmlns:a16="http://schemas.microsoft.com/office/drawing/2014/main" id="{3B2A3986-0AF3-40AF-A7C6-772D97ADE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171717"/>
                </a:solidFill>
              </a:defRPr>
            </a:pPr>
            <a:r>
              <a:rPr sz="2700" b="1">
                <a:solidFill>
                  <a:srgbClr val="171717"/>
                </a:solidFill>
              </a:rPr>
              <a:t>화면은 정보 우선순위와 반응형 구조에 맞춰 설계했다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C1F67-DCF7-4B13-BE4B-EF5C8BF7A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8D8D4"/>
            </a:solidFill>
            <a:prstDash val="solid"/>
          </a:ln>
        </p:spPr>
      </p:sp>
      <p:sp>
        <p:nvSpPr>
          <p:cNvPr id="4" name="footer-7">
            <a:extLst xmlns:a="http://schemas.openxmlformats.org/drawingml/2006/main">
              <a:ext uri="{FF2B5EF4-FFF2-40B4-BE49-F238E27FC236}">
                <a16:creationId xmlns:a16="http://schemas.microsoft.com/office/drawing/2014/main" id="{0DA57F1E-2C26-4F6E-BBCC-6A9FB8847A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888888"/>
                </a:solidFill>
              </a:defRPr>
            </a:pPr>
            <a:r>
              <a:rPr sz="750" b="1">
                <a:solidFill>
                  <a:srgbClr val="888888"/>
                </a:solidFill>
              </a:rPr>
              <a:t>LCX CONTAINER MANAGEMENT</a:t>
            </a:r>
          </a:p>
        </p:txBody>
      </p:sp>
      <p:sp>
        <p:nvSpPr>
          <p:cNvPr id="5" name="screen">
            <a:extLst xmlns:a="http://schemas.openxmlformats.org/drawingml/2006/main">
              <a:ext uri="{FF2B5EF4-FFF2-40B4-BE49-F238E27FC236}">
                <a16:creationId xmlns:a16="http://schemas.microsoft.com/office/drawing/2014/main" id="{DE1ABAA9-1B3A-4D1B-9CF1-F4C6F3702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61722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CFCF"/>
            </a:solidFill>
            <a:prstDash val="solid"/>
          </a:ln>
        </p:spPr>
      </p:sp>
      <p:sp>
        <p:nvSpPr>
          <p:cNvPr id="6" name="sidebar">
            <a:extLst xmlns:a="http://schemas.openxmlformats.org/drawingml/2006/main">
              <a:ext uri="{FF2B5EF4-FFF2-40B4-BE49-F238E27FC236}">
                <a16:creationId xmlns:a16="http://schemas.microsoft.com/office/drawing/2014/main" id="{C59DB246-73A3-44AE-8034-0FA9291A6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12573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0B0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topbar">
            <a:extLst xmlns:a="http://schemas.openxmlformats.org/drawingml/2006/main">
              <a:ext uri="{FF2B5EF4-FFF2-40B4-BE49-F238E27FC236}">
                <a16:creationId xmlns:a16="http://schemas.microsoft.com/office/drawing/2014/main" id="{5E282C35-95AD-45E8-8D23-C8BD11BBE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076450"/>
            <a:ext cx="44767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EF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card-0">
            <a:extLst xmlns:a="http://schemas.openxmlformats.org/drawingml/2006/main">
              <a:ext uri="{FF2B5EF4-FFF2-40B4-BE49-F238E27FC236}">
                <a16:creationId xmlns:a16="http://schemas.microsoft.com/office/drawing/2014/main" id="{6CCFEAF8-978C-476E-B0F4-DE8775E80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ard-1">
            <a:extLst xmlns:a="http://schemas.openxmlformats.org/drawingml/2006/main">
              <a:ext uri="{FF2B5EF4-FFF2-40B4-BE49-F238E27FC236}">
                <a16:creationId xmlns:a16="http://schemas.microsoft.com/office/drawing/2014/main" id="{B9B075DB-41F5-4EB2-A31F-B7F4F879B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5755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card-2">
            <a:extLst xmlns:a="http://schemas.openxmlformats.org/drawingml/2006/main">
              <a:ext uri="{FF2B5EF4-FFF2-40B4-BE49-F238E27FC236}">
                <a16:creationId xmlns:a16="http://schemas.microsoft.com/office/drawing/2014/main" id="{18218ACE-5E8C-4612-A989-8B98EB481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card-3">
            <a:extLst xmlns:a="http://schemas.openxmlformats.org/drawingml/2006/main">
              <a:ext uri="{FF2B5EF4-FFF2-40B4-BE49-F238E27FC236}">
                <a16:creationId xmlns:a16="http://schemas.microsoft.com/office/drawing/2014/main" id="{80070882-97BA-49A6-B3E4-FF477DD26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647950"/>
            <a:ext cx="9906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4D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table">
            <a:extLst xmlns:a="http://schemas.openxmlformats.org/drawingml/2006/main">
              <a:ext uri="{FF2B5EF4-FFF2-40B4-BE49-F238E27FC236}">
                <a16:creationId xmlns:a16="http://schemas.microsoft.com/office/drawing/2014/main" id="{B0D76317-02EF-4B42-AAF5-359BD6D2A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562350"/>
            <a:ext cx="447675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EE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43B4D47-03DA-4135-AC62-D723306734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90525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5E8372-300B-45FD-8364-0CFFCC22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162425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F10489-C839-4D1D-AF5B-7E549B031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419600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467EA1-84E5-4C9D-B5B0-2FD35A9374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676775"/>
            <a:ext cx="4152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D0D0CB"/>
            </a:solidFill>
            <a:prstDash val="solid"/>
          </a:ln>
        </p:spPr>
      </p:sp>
      <p:sp>
        <p:nvSpPr>
          <p:cNvPr id="17" name="desktop">
            <a:extLst xmlns:a="http://schemas.openxmlformats.org/drawingml/2006/main">
              <a:ext uri="{FF2B5EF4-FFF2-40B4-BE49-F238E27FC236}">
                <a16:creationId xmlns:a16="http://schemas.microsoft.com/office/drawing/2014/main" id="{BE96738E-31C2-4391-9B69-88E9AC372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144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6A00"/>
                </a:solidFill>
              </a:defRPr>
            </a:pPr>
            <a:r>
              <a:rPr sz="825" b="1">
                <a:solidFill>
                  <a:srgbClr val="FF6A00"/>
                </a:solidFill>
              </a:rPr>
              <a:t>DESKTOP</a:t>
            </a:r>
          </a:p>
        </p:txBody>
      </p:sp>
      <p:sp>
        <p:nvSpPr>
          <p:cNvPr id="18" name="ui-label">
            <a:extLst xmlns:a="http://schemas.openxmlformats.org/drawingml/2006/main">
              <a:ext uri="{FF2B5EF4-FFF2-40B4-BE49-F238E27FC236}">
                <a16:creationId xmlns:a16="http://schemas.microsoft.com/office/drawing/2014/main" id="{874CC2EE-E64B-4169-B6B7-4EB3D4E5D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1866900"/>
            <a:ext cx="171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설계 기준</a:t>
            </a:r>
          </a:p>
        </p:txBody>
      </p:sp>
      <p:sp>
        <p:nvSpPr>
          <p:cNvPr id="19" name="ui-t-0">
            <a:extLst xmlns:a="http://schemas.openxmlformats.org/drawingml/2006/main">
              <a:ext uri="{FF2B5EF4-FFF2-40B4-BE49-F238E27FC236}">
                <a16:creationId xmlns:a16="http://schemas.microsoft.com/office/drawing/2014/main" id="{62CFB7DC-DFC8-4B2F-9A31-3757701F3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4384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고정 사이드바</a:t>
            </a:r>
          </a:p>
        </p:txBody>
      </p:sp>
      <p:sp>
        <p:nvSpPr>
          <p:cNvPr id="20" name="ui-b-0">
            <a:extLst xmlns:a="http://schemas.openxmlformats.org/drawingml/2006/main">
              <a:ext uri="{FF2B5EF4-FFF2-40B4-BE49-F238E27FC236}">
                <a16:creationId xmlns:a16="http://schemas.microsoft.com/office/drawing/2014/main" id="{9146C008-E355-4F28-A743-AFC9D9FD2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4384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주요 관리 메뉴를 일관되게 배치</a:t>
            </a:r>
          </a:p>
        </p:txBody>
      </p:sp>
      <p:sp>
        <p:nvSpPr>
          <p:cNvPr id="21" name="ui-t-1">
            <a:extLst xmlns:a="http://schemas.openxmlformats.org/drawingml/2006/main">
              <a:ext uri="{FF2B5EF4-FFF2-40B4-BE49-F238E27FC236}">
                <a16:creationId xmlns:a16="http://schemas.microsoft.com/office/drawing/2014/main" id="{9B78975C-559E-40E8-80C1-20BA3975B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1623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카드형 요약</a:t>
            </a:r>
          </a:p>
        </p:txBody>
      </p:sp>
      <p:sp>
        <p:nvSpPr>
          <p:cNvPr id="22" name="ui-b-1">
            <a:extLst xmlns:a="http://schemas.openxmlformats.org/drawingml/2006/main">
              <a:ext uri="{FF2B5EF4-FFF2-40B4-BE49-F238E27FC236}">
                <a16:creationId xmlns:a16="http://schemas.microsoft.com/office/drawing/2014/main" id="{9CCB8CF8-CB33-49F9-A5EC-3E82984575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1623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숫자와 상태를 빠르게 스캔</a:t>
            </a:r>
          </a:p>
        </p:txBody>
      </p:sp>
      <p:sp>
        <p:nvSpPr>
          <p:cNvPr id="23" name="ui-t-2">
            <a:extLst xmlns:a="http://schemas.openxmlformats.org/drawingml/2006/main">
              <a:ext uri="{FF2B5EF4-FFF2-40B4-BE49-F238E27FC236}">
                <a16:creationId xmlns:a16="http://schemas.microsoft.com/office/drawing/2014/main" id="{7AED9827-926F-4DC8-B15C-578B4CB3B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3886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표 기반 목록</a:t>
            </a:r>
          </a:p>
        </p:txBody>
      </p:sp>
      <p:sp>
        <p:nvSpPr>
          <p:cNvPr id="24" name="ui-b-2">
            <a:extLst xmlns:a="http://schemas.openxmlformats.org/drawingml/2006/main">
              <a:ext uri="{FF2B5EF4-FFF2-40B4-BE49-F238E27FC236}">
                <a16:creationId xmlns:a16="http://schemas.microsoft.com/office/drawing/2014/main" id="{453B77F0-F4F5-4B9A-BEE7-BCCD4150C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38862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컨테이너별 세부 정보를 비교</a:t>
            </a:r>
          </a:p>
        </p:txBody>
      </p:sp>
      <p:sp>
        <p:nvSpPr>
          <p:cNvPr id="25" name="ui-t-3">
            <a:extLst xmlns:a="http://schemas.openxmlformats.org/drawingml/2006/main">
              <a:ext uri="{FF2B5EF4-FFF2-40B4-BE49-F238E27FC236}">
                <a16:creationId xmlns:a16="http://schemas.microsoft.com/office/drawing/2014/main" id="{DADFBED7-A57A-4588-AC8E-361C48C5F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610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71717"/>
                </a:solidFill>
              </a:defRPr>
            </a:pPr>
            <a:r>
              <a:rPr sz="1500" b="1">
                <a:solidFill>
                  <a:srgbClr val="171717"/>
                </a:solidFill>
              </a:rPr>
              <a:t>반응형 전환</a:t>
            </a:r>
          </a:p>
        </p:txBody>
      </p:sp>
      <p:sp>
        <p:nvSpPr>
          <p:cNvPr id="26" name="ui-b-3">
            <a:extLst xmlns:a="http://schemas.openxmlformats.org/drawingml/2006/main">
              <a:ext uri="{FF2B5EF4-FFF2-40B4-BE49-F238E27FC236}">
                <a16:creationId xmlns:a16="http://schemas.microsoft.com/office/drawing/2014/main" id="{89C66C5C-BDC6-4DFE-8F9B-30F556CEC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610100"/>
            <a:ext cx="20764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6666"/>
                </a:solidFill>
              </a:defRPr>
            </a:pPr>
            <a:r>
              <a:rPr sz="1125" b="0">
                <a:solidFill>
                  <a:srgbClr val="666666"/>
                </a:solidFill>
              </a:rPr>
              <a:t>900px·620px 기준으로 열과 메뉴 조정</a:t>
            </a:r>
          </a:p>
        </p:txBody>
      </p:sp>
    </p:spTree>
    <p:extLst>
      <p:ext uri="{BB962C8B-B14F-4D97-AF65-F5344CB8AC3E}">
        <p14:creationId xmlns:p14="http://schemas.microsoft.com/office/powerpoint/2010/main" val="14015465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B0B0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num-8">
            <a:extLst xmlns:a="http://schemas.openxmlformats.org/drawingml/2006/main">
              <a:ext uri="{FF2B5EF4-FFF2-40B4-BE49-F238E27FC236}">
                <a16:creationId xmlns:a16="http://schemas.microsoft.com/office/drawing/2014/main" id="{667A5EBC-1B67-4C3F-9B9F-4AA52A84F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00050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F6A00"/>
                </a:solidFill>
              </a:defRPr>
            </a:pPr>
            <a:r>
              <a:rPr sz="1125" b="1">
                <a:solidFill>
                  <a:srgbClr val="FF6A00"/>
                </a:solidFill>
              </a:rPr>
              <a:t>08</a:t>
            </a:r>
          </a:p>
        </p:txBody>
      </p:sp>
      <p:sp>
        <p:nvSpPr>
          <p:cNvPr id="2" name="title-8">
            <a:extLst xmlns:a="http://schemas.openxmlformats.org/drawingml/2006/main">
              <a:ext uri="{FF2B5EF4-FFF2-40B4-BE49-F238E27FC236}">
                <a16:creationId xmlns:a16="http://schemas.microsoft.com/office/drawing/2014/main" id="{A0B3B4BD-A4E4-4804-998C-57611F480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81050"/>
            <a:ext cx="103822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FFFFFF"/>
                </a:solidFill>
              </a:defRPr>
            </a:pPr>
            <a:r>
              <a:rPr sz="2700" b="1">
                <a:solidFill>
                  <a:srgbClr val="FFFFFF"/>
                </a:solidFill>
              </a:rPr>
              <a:t>기본 모니터링 흐름을 완성했고, 관리 기능으로 확장할 수 있다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9E5A8CC-4FEE-41E5-96E0-F8C184D08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409700"/>
            <a:ext cx="108966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343434"/>
            </a:solidFill>
            <a:prstDash val="solid"/>
          </a:ln>
        </p:spPr>
      </p:sp>
      <p:sp>
        <p:nvSpPr>
          <p:cNvPr id="4" name="footer-8">
            <a:extLst xmlns:a="http://schemas.openxmlformats.org/drawingml/2006/main">
              <a:ext uri="{FF2B5EF4-FFF2-40B4-BE49-F238E27FC236}">
                <a16:creationId xmlns:a16="http://schemas.microsoft.com/office/drawing/2014/main" id="{2A06ACDC-62E7-46CB-B8F4-9C35BF3F4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4900" y="6362700"/>
            <a:ext cx="28194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r">
              <a:defRPr sz="750" b="1">
                <a:solidFill>
                  <a:srgbClr val="777777"/>
                </a:solidFill>
              </a:defRPr>
            </a:pPr>
            <a:r>
              <a:rPr sz="750" b="1">
                <a:solidFill>
                  <a:srgbClr val="777777"/>
                </a:solidFill>
              </a:rPr>
              <a:t>LCX CONTAINER MANAGEMENT</a:t>
            </a:r>
          </a:p>
        </p:txBody>
      </p:sp>
      <p:sp>
        <p:nvSpPr>
          <p:cNvPr id="5" name="done-label">
            <a:extLst xmlns:a="http://schemas.openxmlformats.org/drawingml/2006/main">
              <a:ext uri="{FF2B5EF4-FFF2-40B4-BE49-F238E27FC236}">
                <a16:creationId xmlns:a16="http://schemas.microsoft.com/office/drawing/2014/main" id="{9170E80B-4F1D-4F82-866F-322F1E006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완성한 내용</a:t>
            </a:r>
          </a:p>
        </p:txBody>
      </p:sp>
      <p:sp>
        <p:nvSpPr>
          <p:cNvPr id="6" name="done">
            <a:extLst xmlns:a="http://schemas.openxmlformats.org/drawingml/2006/main">
              <a:ext uri="{FF2B5EF4-FFF2-40B4-BE49-F238E27FC236}">
                <a16:creationId xmlns:a16="http://schemas.microsoft.com/office/drawing/2014/main" id="{48764411-AC4E-46A9-A0D6-8DE6B40B1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324100"/>
            <a:ext cx="4000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DB 데이터 조회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상태 요약 계산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대시보드 렌더링</a:t>
            </a:r>
          </a:p>
          <a:p xmlns:a="http://schemas.openxmlformats.org/drawingml/2006/main">
            <a:pPr algn="l">
              <a:defRPr sz="2325" b="1">
                <a:solidFill>
                  <a:srgbClr val="FFFFFF"/>
                </a:solidFill>
              </a:defRPr>
            </a:pPr>
            <a:r>
              <a:rPr sz="2325" b="1">
                <a:solidFill>
                  <a:srgbClr val="FFFFFF"/>
                </a:solidFill>
              </a:rPr>
              <a:t>반응형 화면 구성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D128751-AB39-43CD-87DF-BFA750C1D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809750"/>
            <a:ext cx="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424242"/>
            </a:solidFill>
            <a:prstDash val="solid"/>
          </a:ln>
        </p:spPr>
      </p:sp>
      <p:sp>
        <p:nvSpPr>
          <p:cNvPr id="8" name="next-label">
            <a:extLst xmlns:a="http://schemas.openxmlformats.org/drawingml/2006/main">
              <a:ext uri="{FF2B5EF4-FFF2-40B4-BE49-F238E27FC236}">
                <a16:creationId xmlns:a16="http://schemas.microsoft.com/office/drawing/2014/main" id="{5ECA45B2-04FD-4C21-A6CD-BF1F2149B6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1809750"/>
            <a:ext cx="2476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6A00"/>
                </a:solidFill>
              </a:defRPr>
            </a:pPr>
            <a:r>
              <a:rPr sz="1275" b="1">
                <a:solidFill>
                  <a:srgbClr val="FF6A00"/>
                </a:solidFill>
              </a:rPr>
              <a:t>향후 과제</a:t>
            </a:r>
          </a:p>
        </p:txBody>
      </p:sp>
      <p:sp>
        <p:nvSpPr>
          <p:cNvPr id="9" name="next-n-0">
            <a:extLst xmlns:a="http://schemas.openxmlformats.org/drawingml/2006/main">
              <a:ext uri="{FF2B5EF4-FFF2-40B4-BE49-F238E27FC236}">
                <a16:creationId xmlns:a16="http://schemas.microsoft.com/office/drawing/2014/main" id="{CEEC85F6-A61E-4DEE-8D1E-7E39C9DC6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23812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01</a:t>
            </a:r>
          </a:p>
        </p:txBody>
      </p:sp>
      <p:sp>
        <p:nvSpPr>
          <p:cNvPr id="10" name="next-0">
            <a:extLst xmlns:a="http://schemas.openxmlformats.org/drawingml/2006/main">
              <a:ext uri="{FF2B5EF4-FFF2-40B4-BE49-F238E27FC236}">
                <a16:creationId xmlns:a16="http://schemas.microsoft.com/office/drawing/2014/main" id="{997180A5-371E-451D-B3C8-BB43F4B9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050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</a:defRPr>
            </a:pPr>
            <a:r>
              <a:rPr sz="1575" b="1">
                <a:solidFill>
                  <a:srgbClr val="FFFFFF"/>
                </a:solidFill>
              </a:rPr>
              <a:t>컨테이너 시작·중지 API 연결</a:t>
            </a:r>
          </a:p>
        </p:txBody>
      </p:sp>
      <p:sp>
        <p:nvSpPr>
          <p:cNvPr id="11" name="next-n-1">
            <a:extLst xmlns:a="http://schemas.openxmlformats.org/drawingml/2006/main">
              <a:ext uri="{FF2B5EF4-FFF2-40B4-BE49-F238E27FC236}">
                <a16:creationId xmlns:a16="http://schemas.microsoft.com/office/drawing/2014/main" id="{27EDA4BB-0934-4FF8-95CD-A2A38D022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0099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02</a:t>
            </a:r>
          </a:p>
        </p:txBody>
      </p:sp>
      <p:sp>
        <p:nvSpPr>
          <p:cNvPr id="12" name="next-1">
            <a:extLst xmlns:a="http://schemas.openxmlformats.org/drawingml/2006/main">
              <a:ext uri="{FF2B5EF4-FFF2-40B4-BE49-F238E27FC236}">
                <a16:creationId xmlns:a16="http://schemas.microsoft.com/office/drawing/2014/main" id="{C64042F6-05AC-4E9F-9ABD-45CF16989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9337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로그와 이벤트 실시간 표시</a:t>
            </a:r>
          </a:p>
        </p:txBody>
      </p:sp>
      <p:sp>
        <p:nvSpPr>
          <p:cNvPr id="13" name="next-n-2">
            <a:extLst xmlns:a="http://schemas.openxmlformats.org/drawingml/2006/main">
              <a:ext uri="{FF2B5EF4-FFF2-40B4-BE49-F238E27FC236}">
                <a16:creationId xmlns:a16="http://schemas.microsoft.com/office/drawing/2014/main" id="{8C7E95DA-82B4-4FB7-A42C-F836EEBC3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363855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03</a:t>
            </a:r>
          </a:p>
        </p:txBody>
      </p:sp>
      <p:sp>
        <p:nvSpPr>
          <p:cNvPr id="14" name="next-2">
            <a:extLst xmlns:a="http://schemas.openxmlformats.org/drawingml/2006/main">
              <a:ext uri="{FF2B5EF4-FFF2-40B4-BE49-F238E27FC236}">
                <a16:creationId xmlns:a16="http://schemas.microsoft.com/office/drawing/2014/main" id="{4F9E0B98-4CB6-477E-95CB-175571FD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356235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인증 및 권한 관리</a:t>
            </a:r>
          </a:p>
        </p:txBody>
      </p:sp>
      <p:sp>
        <p:nvSpPr>
          <p:cNvPr id="15" name="next-n-3">
            <a:extLst xmlns:a="http://schemas.openxmlformats.org/drawingml/2006/main">
              <a:ext uri="{FF2B5EF4-FFF2-40B4-BE49-F238E27FC236}">
                <a16:creationId xmlns:a16="http://schemas.microsoft.com/office/drawing/2014/main" id="{7E26CC08-0388-44B8-B3A0-A9A0657F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3100" y="4267200"/>
            <a:ext cx="419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6A00"/>
                </a:solidFill>
              </a:defRPr>
            </a:pPr>
            <a:r>
              <a:rPr sz="1200" b="1">
                <a:solidFill>
                  <a:srgbClr val="FF6A00"/>
                </a:solidFill>
              </a:rPr>
              <a:t>04</a:t>
            </a:r>
          </a:p>
        </p:txBody>
      </p:sp>
      <p:sp>
        <p:nvSpPr>
          <p:cNvPr id="16" name="next-3">
            <a:extLst xmlns:a="http://schemas.openxmlformats.org/drawingml/2006/main">
              <a:ext uri="{FF2B5EF4-FFF2-40B4-BE49-F238E27FC236}">
                <a16:creationId xmlns:a16="http://schemas.microsoft.com/office/drawing/2014/main" id="{E27CA97D-EFD6-4248-9151-1AC5EA62C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4191000"/>
            <a:ext cx="4476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FFFFF"/>
                </a:solidFill>
              </a:defRPr>
            </a:pPr>
            <a:r>
              <a:rPr sz="1575" b="0">
                <a:solidFill>
                  <a:srgbClr val="FFFFFF"/>
                </a:solidFill>
              </a:rPr>
              <a:t>자원 사용량 차트와 알림 기능</a:t>
            </a:r>
          </a:p>
        </p:txBody>
      </p:sp>
      <p:sp>
        <p:nvSpPr>
          <p:cNvPr id="17" name="closing">
            <a:extLst xmlns:a="http://schemas.openxmlformats.org/drawingml/2006/main">
              <a:ext uri="{FF2B5EF4-FFF2-40B4-BE49-F238E27FC236}">
                <a16:creationId xmlns:a16="http://schemas.microsoft.com/office/drawing/2014/main" id="{60492141-76F7-40F0-83C7-32F3223C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6038850"/>
            <a:ext cx="121920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A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closing-text">
            <a:extLst xmlns:a="http://schemas.openxmlformats.org/drawingml/2006/main">
              <a:ext uri="{FF2B5EF4-FFF2-40B4-BE49-F238E27FC236}">
                <a16:creationId xmlns:a16="http://schemas.microsoft.com/office/drawing/2014/main" id="{7F01594A-19D1-4F2F-93FF-B9F18D1EC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6191250"/>
            <a:ext cx="107442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0B0B0B"/>
                </a:solidFill>
              </a:defRPr>
            </a:pPr>
            <a:r>
              <a:rPr sz="1800" b="1">
                <a:solidFill>
                  <a:srgbClr val="0B0B0B"/>
                </a:solidFill>
              </a:rPr>
              <a:t>현재 상태를 보여주는 대시보드에서, 실제 운영을 제어하는 관리 도구로</a:t>
            </a:r>
          </a:p>
        </p:txBody>
      </p:sp>
    </p:spTree>
    <p:extLst>
      <p:ext uri="{BB962C8B-B14F-4D97-AF65-F5344CB8AC3E}">
        <p14:creationId xmlns:p14="http://schemas.microsoft.com/office/powerpoint/2010/main" val="19607974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2026-08-23T23:00:09.3650000Z</dcterms:created>
  <dcterms:modified xsi:type="dcterms:W3CDTF">2026-08-23T23:00:09.3660000Z</dcterms:modified>
</coreProperties>
</file>