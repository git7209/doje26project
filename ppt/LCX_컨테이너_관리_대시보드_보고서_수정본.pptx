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96b599046f416d" /><Relationship Type="http://schemas.openxmlformats.org/officeDocument/2006/relationships/extended-properties" Target="/docProps/app.xml" Id="Red7a9dc1ba984392" /><Relationship Type="http://schemas.openxmlformats.org/officeDocument/2006/relationships/officeDocument" Target="/ppt/presentation.xml" Id="Ra0133cf91a5a4c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9168dde3e447ea"/>
  </p:sldMasterIdLst>
  <p:notesMasterIdLst>
    <p:notesMasterId xmlns:r="http://schemas.openxmlformats.org/officeDocument/2006/relationships" r:id="R5a4d4773512b44af"/>
  </p:notesMasterIdLst>
  <p:sldIdLst>
    <p:sldId xmlns:r="http://schemas.openxmlformats.org/officeDocument/2006/relationships" id="256" r:id="Rc9463390b91d4be0"/>
    <p:sldId xmlns:r="http://schemas.openxmlformats.org/officeDocument/2006/relationships" id="257" r:id="R9ceab9db1a9d4290"/>
    <p:sldId xmlns:r="http://schemas.openxmlformats.org/officeDocument/2006/relationships" id="258" r:id="R486ccee355a249e2"/>
    <p:sldId xmlns:r="http://schemas.openxmlformats.org/officeDocument/2006/relationships" id="259" r:id="Redf9d991530246bf"/>
    <p:sldId xmlns:r="http://schemas.openxmlformats.org/officeDocument/2006/relationships" id="260" r:id="R1e0bbe7bf03f43a1"/>
    <p:sldId xmlns:r="http://schemas.openxmlformats.org/officeDocument/2006/relationships" id="261" r:id="R5bdf6c41de9342ad"/>
    <p:sldId xmlns:r="http://schemas.openxmlformats.org/officeDocument/2006/relationships" id="262" r:id="Reac0b70e4a2d43c5"/>
    <p:sldId xmlns:r="http://schemas.openxmlformats.org/officeDocument/2006/relationships" id="263" r:id="R527a497db93749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75d600ce2846ee" /><Relationship Type="http://schemas.openxmlformats.org/officeDocument/2006/relationships/slideMaster" Target="/ppt/slideMasters/slideMaster1.xml" Id="Rea9168dde3e447ea" /><Relationship Type="http://schemas.openxmlformats.org/officeDocument/2006/relationships/notesMaster" Target="/ppt/notesMasters/notesMaster1.xml" Id="R5a4d4773512b44af" /><Relationship Type="http://schemas.openxmlformats.org/officeDocument/2006/relationships/presProps" Target="/ppt/presProps.xml" Id="R2cb51adb6d3c4f8e" /><Relationship Type="http://schemas.openxmlformats.org/officeDocument/2006/relationships/tableStyles" Target="/ppt/tableStyles.xml" Id="R6f52eb901c1b4b1f" /><Relationship Type="http://schemas.openxmlformats.org/officeDocument/2006/relationships/slide" Target="/ppt/slides/slide1.xml" Id="Rc9463390b91d4be0" /><Relationship Type="http://schemas.openxmlformats.org/officeDocument/2006/relationships/slide" Target="/ppt/slides/slide2.xml" Id="R9ceab9db1a9d4290" /><Relationship Type="http://schemas.openxmlformats.org/officeDocument/2006/relationships/slide" Target="/ppt/slides/slide3.xml" Id="R486ccee355a249e2" /><Relationship Type="http://schemas.openxmlformats.org/officeDocument/2006/relationships/slide" Target="/ppt/slides/slide4.xml" Id="Redf9d991530246bf" /><Relationship Type="http://schemas.openxmlformats.org/officeDocument/2006/relationships/slide" Target="/ppt/slides/slide5.xml" Id="R1e0bbe7bf03f43a1" /><Relationship Type="http://schemas.openxmlformats.org/officeDocument/2006/relationships/slide" Target="/ppt/slides/slide6.xml" Id="R5bdf6c41de9342ad" /><Relationship Type="http://schemas.openxmlformats.org/officeDocument/2006/relationships/slide" Target="/ppt/slides/slide7.xml" Id="Reac0b70e4a2d43c5" /><Relationship Type="http://schemas.openxmlformats.org/officeDocument/2006/relationships/slide" Target="/ppt/slides/slide8.xml" Id="R527a497db93749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a59fc6777443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f1fb52a39d4de7" /><Relationship Type="http://schemas.openxmlformats.org/officeDocument/2006/relationships/notesMaster" Target="/ppt/notesMasters/notesMaster1.xml" Id="R5b0f1a3ec4394b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c973ad6fe34959" /><Relationship Type="http://schemas.openxmlformats.org/officeDocument/2006/relationships/notesMaster" Target="/ppt/notesMasters/notesMaster1.xml" Id="Rc07a5209148b43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de2feb7e31474f" /><Relationship Type="http://schemas.openxmlformats.org/officeDocument/2006/relationships/notesMaster" Target="/ppt/notesMasters/notesMaster1.xml" Id="R1988e7163fed46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07f831656b49e7" /><Relationship Type="http://schemas.openxmlformats.org/officeDocument/2006/relationships/notesMaster" Target="/ppt/notesMasters/notesMaster1.xml" Id="R3d66569143454a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f87e2e9f894f0a" /><Relationship Type="http://schemas.openxmlformats.org/officeDocument/2006/relationships/notesMaster" Target="/ppt/notesMasters/notesMaster1.xml" Id="R4aa6306b3f3e44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cca8009d6a4145" /><Relationship Type="http://schemas.openxmlformats.org/officeDocument/2006/relationships/notesMaster" Target="/ppt/notesMasters/notesMaster1.xml" Id="Rbd160e330dae4d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7e7be615a4dd3" /><Relationship Type="http://schemas.openxmlformats.org/officeDocument/2006/relationships/notesMaster" Target="/ppt/notesMasters/notesMaster1.xml" Id="Rd7f557e15e4a44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d76386df5c4c45" /><Relationship Type="http://schemas.openxmlformats.org/officeDocument/2006/relationships/notesMaster" Target="/ppt/notesMasters/notesMaster1.xml" Id="R08f81c66715146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project.md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server.js</a:t>
            </a:r>
          </a:p>
          <a:p xmlns:a="http://schemas.openxmlformats.org/drawingml/2006/main">
            <a:r>
              <a:t>- schema.sql</a:t>
            </a:r>
          </a:p>
          <a:p xmlns:a="http://schemas.openxmlformats.org/drawingml/2006/main">
            <a:r>
              <a:t>- html/index.html</a:t>
            </a:r>
          </a:p>
          <a:p xmlns:a="http://schemas.openxmlformats.org/drawingml/2006/main">
            <a:r>
              <a:t>- style/style.css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본 프로젝트 소스 파일을 바탕으로 구성한 목차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server.js — Node.js 서버와 API 구현</a:t>
            </a:r>
          </a:p>
          <a:p xmlns:a="http://schemas.openxmlformats.org/drawingml/2006/main">
            <a:r>
              <a:t>- schema.sql — PostgreSQL 테이블 설계</a:t>
            </a:r>
          </a:p>
          <a:p xmlns:a="http://schemas.openxmlformats.org/drawingml/2006/main">
            <a:r>
              <a:t>- html/index.html — 화면 구성과 데이터 렌더링</a:t>
            </a:r>
          </a:p>
          <a:p xmlns:a="http://schemas.openxmlformats.org/drawingml/2006/main">
            <a:r>
              <a:t>- style/style.css — 레이아웃과 반응형 UI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server.js — HTTP 서버, 정적 파일 제공, /api/dashboard</a:t>
            </a:r>
          </a:p>
          <a:p xmlns:a="http://schemas.openxmlformats.org/drawingml/2006/main">
            <a:r>
              <a:t>- schema.sql — PostgreSQL containers 테이블</a:t>
            </a:r>
          </a:p>
          <a:p xmlns:a="http://schemas.openxmlformats.org/drawingml/2006/main">
            <a:r>
              <a:t>- html/index.html — fetch 및 렌더링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html/index.html — 요약 카드, 자원 카드, 컨테이너 표, 새로고침 버튼</a:t>
            </a:r>
          </a:p>
          <a:p xmlns:a="http://schemas.openxmlformats.org/drawingml/2006/main">
            <a:r>
              <a:t>- server.js — 요약 집계 및 데이터 반환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schema.sql — 테이블 스키마, 상태 CHECK 제약조건, 초기 데이터</a:t>
            </a:r>
          </a:p>
          <a:p xmlns:a="http://schemas.openxmlformats.org/drawingml/2006/main">
            <a:r>
              <a:t>- server.js — GET /api/dashboard 응답 구조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style/style.css — 고정 사이드바, 카드/표 스타일, 900px·620px 미디어 쿼리</a:t>
            </a:r>
          </a:p>
          <a:p xmlns:a="http://schemas.openxmlformats.org/drawingml/2006/main">
            <a:r>
              <a:t>- html/index.html — 화면 정보 구조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저번 주까지 한 일: server.js, schema.sql, html/index.html, style/style.css</a:t>
            </a:r>
          </a:p>
          <a:p xmlns:a="http://schemas.openxmlformats.org/drawingml/2006/main">
            <a:r>
              <a:t>- 다음 주에 할 일: 현재 구현 범위를 바탕으로 한 확장 계획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1b1a22d424a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5fe1f982fa46b4" /><Relationship Type="http://schemas.openxmlformats.org/officeDocument/2006/relationships/slideLayout" Target="/ppt/slideLayouts/slideLayout1.xml" Id="R52ffa03c7f8847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ffa03c7f8847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74b61ba1447b9" /><Relationship Type="http://schemas.openxmlformats.org/officeDocument/2006/relationships/notesSlide" Target="/ppt/notesSlides/notesSlide1.xml" Id="Ra163c1616f6047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fe210260148ae" /><Relationship Type="http://schemas.openxmlformats.org/officeDocument/2006/relationships/notesSlide" Target="/ppt/notesSlides/notesSlide2.xml" Id="Ra5dc1af656094e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5119c3f3c487d" /><Relationship Type="http://schemas.openxmlformats.org/officeDocument/2006/relationships/notesSlide" Target="/ppt/notesSlides/notesSlide3.xml" Id="R4fe5eae040c843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4895205ad4908" /><Relationship Type="http://schemas.openxmlformats.org/officeDocument/2006/relationships/notesSlide" Target="/ppt/notesSlides/notesSlide4.xml" Id="R12efb2c7caf943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e74ec0f7946be" /><Relationship Type="http://schemas.openxmlformats.org/officeDocument/2006/relationships/notesSlide" Target="/ppt/notesSlides/notesSlide5.xml" Id="R32d50915a30e40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3623aa0fc4bbd" /><Relationship Type="http://schemas.openxmlformats.org/officeDocument/2006/relationships/notesSlide" Target="/ppt/notesSlides/notesSlide6.xml" Id="R2c3e8a0bebfb43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7019f36fe4617" /><Relationship Type="http://schemas.openxmlformats.org/officeDocument/2006/relationships/notesSlide" Target="/ppt/notesSlides/notesSlide7.xml" Id="Rdf1fde594dd74a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fccf688c448ac" /><Relationship Type="http://schemas.openxmlformats.org/officeDocument/2006/relationships/notesSlide" Target="/ppt/notesSlides/notesSlide8.xml" Id="R5ee5366277ac43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range-edge">
            <a:extLst xmlns:a="http://schemas.openxmlformats.org/drawingml/2006/main">
              <a:ext uri="{FF2B5EF4-FFF2-40B4-BE49-F238E27FC236}">
                <a16:creationId xmlns:a16="http://schemas.microsoft.com/office/drawing/2014/main" id="{242D62D3-3859-4F5D-A734-8048E29D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4DF1211-D739-42BE-80F4-61D442DF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PROJECT REPORT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243380B-2962-4370-986E-740359C9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620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LCX 기반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컨테이너 관리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대시보드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74B0F-6B17-4B0B-B23C-8D16CAE8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6A00"/>
            </a:solidFill>
            <a:prstDash val="solid"/>
          </a:ln>
        </p:spPr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D879AC2-E646-42D2-AE27-959B0766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8C8C8"/>
                </a:solidFill>
              </a:defRPr>
            </a:pPr>
            <a:r>
              <a:rPr sz="1575" b="0">
                <a:solidFill>
                  <a:srgbClr val="C8C8C8"/>
                </a:solidFill>
              </a:rPr>
              <a:t>Node.js와 PostgreSQL을 활용한 웹 기반 모니터링 시스템</a:t>
            </a:r>
          </a:p>
        </p:txBody>
      </p:sp>
      <p:sp>
        <p:nvSpPr>
          <p:cNvPr id="6" name="student-id">
            <a:extLst xmlns:a="http://schemas.openxmlformats.org/drawingml/2006/main">
              <a:ext uri="{FF2B5EF4-FFF2-40B4-BE49-F238E27FC236}">
                <a16:creationId xmlns:a16="http://schemas.microsoft.com/office/drawing/2014/main" id="{4671B0EF-B9FD-4FFF-9A6A-097C9FE9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학번  ＿＿＿＿＿＿＿＿</a:t>
            </a:r>
          </a:p>
        </p:txBody>
      </p:sp>
      <p:sp>
        <p:nvSpPr>
          <p:cNvPr id="7" name="student-name">
            <a:extLst xmlns:a="http://schemas.openxmlformats.org/drawingml/2006/main">
              <a:ext uri="{FF2B5EF4-FFF2-40B4-BE49-F238E27FC236}">
                <a16:creationId xmlns:a16="http://schemas.microsoft.com/office/drawing/2014/main" id="{8B3BA307-488C-4AAA-842F-20BCEFAF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57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이름  ＿＿＿＿＿＿＿＿</a:t>
            </a:r>
          </a:p>
        </p:txBody>
      </p:sp>
      <p:sp>
        <p:nvSpPr>
          <p:cNvPr id="8" name="year">
            <a:extLst xmlns:a="http://schemas.openxmlformats.org/drawingml/2006/main">
              <a:ext uri="{FF2B5EF4-FFF2-40B4-BE49-F238E27FC236}">
                <a16:creationId xmlns:a16="http://schemas.microsoft.com/office/drawing/2014/main" id="{87E07190-221C-4C77-B6BD-792B0BA9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90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53137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num-2">
            <a:extLst xmlns:a="http://schemas.openxmlformats.org/drawingml/2006/main">
              <a:ext uri="{FF2B5EF4-FFF2-40B4-BE49-F238E27FC236}">
                <a16:creationId xmlns:a16="http://schemas.microsoft.com/office/drawing/2014/main" id="{C0489317-5161-4B33-9912-80009A24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B234094-6C9B-4DAE-ADFA-8C25EB15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3D6E2-3DCA-4E71-BD14-34C142F0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84899EA3-2933-4D1E-848B-8FB64EE7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888888"/>
                </a:solidFill>
              </a:defRPr>
            </a:pPr>
            <a:r>
              <a:rPr sz="750" b="1">
                <a:solidFill>
                  <a:srgbClr val="888888"/>
                </a:solidFill>
              </a:rPr>
              <a:t>LCX CONTAINER MANAGEMENT</a:t>
            </a:r>
          </a:p>
        </p:txBody>
      </p:sp>
      <p:sp>
        <p:nvSpPr>
          <p:cNvPr id="5" name="agenda-n-0">
            <a:extLst xmlns:a="http://schemas.openxmlformats.org/drawingml/2006/main">
              <a:ext uri="{FF2B5EF4-FFF2-40B4-BE49-F238E27FC236}">
                <a16:creationId xmlns:a16="http://schemas.microsoft.com/office/drawing/2014/main" id="{CB8B077B-F1A4-4C46-8A63-8C602829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6" name="agenda-0">
            <a:extLst xmlns:a="http://schemas.openxmlformats.org/drawingml/2006/main">
              <a:ext uri="{FF2B5EF4-FFF2-40B4-BE49-F238E27FC236}">
                <a16:creationId xmlns:a16="http://schemas.microsoft.com/office/drawing/2014/main" id="{0D5D49F0-550A-4027-8E55-39ABFFC6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저번 주까지 한 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4E7FF-04A7-4210-8D96-94F21270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241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8" name="agenda-n-1">
            <a:extLst xmlns:a="http://schemas.openxmlformats.org/drawingml/2006/main">
              <a:ext uri="{FF2B5EF4-FFF2-40B4-BE49-F238E27FC236}">
                <a16:creationId xmlns:a16="http://schemas.microsoft.com/office/drawing/2014/main" id="{A7D2ADB1-7B15-4FA6-B47E-E507B9FE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9" name="agenda-1">
            <a:extLst xmlns:a="http://schemas.openxmlformats.org/drawingml/2006/main">
              <a:ext uri="{FF2B5EF4-FFF2-40B4-BE49-F238E27FC236}">
                <a16:creationId xmlns:a16="http://schemas.microsoft.com/office/drawing/2014/main" id="{FBB926F4-E369-4EAB-A85C-F102B28C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33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시스템 구성과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2A92F-7280-4F82-BDC7-446C5A01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1" name="agenda-n-2">
            <a:extLst xmlns:a="http://schemas.openxmlformats.org/drawingml/2006/main">
              <a:ext uri="{FF2B5EF4-FFF2-40B4-BE49-F238E27FC236}">
                <a16:creationId xmlns:a16="http://schemas.microsoft.com/office/drawing/2014/main" id="{019D5FEB-5C32-41BB-95EB-C5C8470F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2" name="agenda-2">
            <a:extLst xmlns:a="http://schemas.openxmlformats.org/drawingml/2006/main">
              <a:ext uri="{FF2B5EF4-FFF2-40B4-BE49-F238E27FC236}">
                <a16:creationId xmlns:a16="http://schemas.microsoft.com/office/drawing/2014/main" id="{166754D4-D6B4-42BE-9B58-2B19A1C8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주요 기능 구현한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1E419-3D7C-4B7D-8EFA-3B481A7C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814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4" name="agenda-n-3">
            <a:extLst xmlns:a="http://schemas.openxmlformats.org/drawingml/2006/main">
              <a:ext uri="{FF2B5EF4-FFF2-40B4-BE49-F238E27FC236}">
                <a16:creationId xmlns:a16="http://schemas.microsoft.com/office/drawing/2014/main" id="{83EDC7F4-266E-46E5-B17A-5098B3F8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15" name="agenda-3">
            <a:extLst xmlns:a="http://schemas.openxmlformats.org/drawingml/2006/main">
              <a:ext uri="{FF2B5EF4-FFF2-40B4-BE49-F238E27FC236}">
                <a16:creationId xmlns:a16="http://schemas.microsoft.com/office/drawing/2014/main" id="{96467400-F59B-48EA-96B2-3B5F268D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데이터베이스와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DF2A3-1A11-4C6C-A194-C8FC4088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814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7" name="agenda-n-4">
            <a:extLst xmlns:a="http://schemas.openxmlformats.org/drawingml/2006/main">
              <a:ext uri="{FF2B5EF4-FFF2-40B4-BE49-F238E27FC236}">
                <a16:creationId xmlns:a16="http://schemas.microsoft.com/office/drawing/2014/main" id="{B4440F0F-FA95-4B0B-8DBF-C5AB0B6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05</a:t>
            </a:r>
          </a:p>
        </p:txBody>
      </p:sp>
      <p:sp>
        <p:nvSpPr>
          <p:cNvPr id="18" name="agenda-4">
            <a:extLst xmlns:a="http://schemas.openxmlformats.org/drawingml/2006/main">
              <a:ext uri="{FF2B5EF4-FFF2-40B4-BE49-F238E27FC236}">
                <a16:creationId xmlns:a16="http://schemas.microsoft.com/office/drawing/2014/main" id="{CF880D4C-D4CC-45C7-BE6E-C61461CE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화면 설계와 반응형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2827C-8293-4D40-BE33-1FD042F5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38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20" name="agenda-n-5">
            <a:extLst xmlns:a="http://schemas.openxmlformats.org/drawingml/2006/main">
              <a:ext uri="{FF2B5EF4-FFF2-40B4-BE49-F238E27FC236}">
                <a16:creationId xmlns:a16="http://schemas.microsoft.com/office/drawing/2014/main" id="{22307CD4-FA8E-47C4-9535-208D3A1D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06</a:t>
            </a:r>
          </a:p>
        </p:txBody>
      </p:sp>
      <p:sp>
        <p:nvSpPr>
          <p:cNvPr id="21" name="agenda-5">
            <a:extLst xmlns:a="http://schemas.openxmlformats.org/drawingml/2006/main">
              <a:ext uri="{FF2B5EF4-FFF2-40B4-BE49-F238E27FC236}">
                <a16:creationId xmlns:a16="http://schemas.microsoft.com/office/drawing/2014/main" id="{D5392217-68C2-46E4-9672-CD2139A4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48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다음 주에 할 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2A6CF-B441-4972-8603-61223E59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38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8496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num-3">
            <a:extLst xmlns:a="http://schemas.openxmlformats.org/drawingml/2006/main">
              <a:ext uri="{FF2B5EF4-FFF2-40B4-BE49-F238E27FC236}">
                <a16:creationId xmlns:a16="http://schemas.microsoft.com/office/drawing/2014/main" id="{221BAEE1-1010-42E2-9E88-3C666799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28F62F1-CC6A-4307-8187-F07C5A52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저번 주까지 한 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5E01-1A0E-4359-B2B9-D891AA84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15DB0A89-92D0-4E8B-8609-28D0DE5E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888888"/>
                </a:solidFill>
              </a:defRPr>
            </a:pPr>
            <a:r>
              <a:rPr sz="750" b="1">
                <a:solidFill>
                  <a:srgbClr val="888888"/>
                </a:solidFill>
              </a:rPr>
              <a:t>LCX CONTAINER MANAGEMENT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073290F4-C19A-4AC3-9352-263A1BF9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대시보드의 기본 구조와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데이터 조회 흐름을 구현했다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975B089-CF17-4A29-95AE-DEF91FF8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지난주까지 화면 구성, Node.js 서버, PostgreSQL 테이블을 연결하고 컨테이너 정보를 웹 화면에 표시하는 기본 흐름을 완성했다.</a:t>
            </a:r>
          </a:p>
        </p:txBody>
      </p:sp>
      <p:sp>
        <p:nvSpPr>
          <p:cNvPr id="7" name="goal-panel">
            <a:extLst xmlns:a="http://schemas.openxmlformats.org/drawingml/2006/main">
              <a:ext uri="{FF2B5EF4-FFF2-40B4-BE49-F238E27FC236}">
                <a16:creationId xmlns:a16="http://schemas.microsoft.com/office/drawing/2014/main" id="{7082242D-E8F2-4C9E-9196-9FE4D82B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381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oal-label">
            <a:extLst xmlns:a="http://schemas.openxmlformats.org/drawingml/2006/main">
              <a:ext uri="{FF2B5EF4-FFF2-40B4-BE49-F238E27FC236}">
                <a16:creationId xmlns:a16="http://schemas.microsoft.com/office/drawing/2014/main" id="{D3752BA2-1898-40E8-9BF5-DB9624C1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A00"/>
                </a:solidFill>
              </a:defRPr>
            </a:pPr>
            <a:r>
              <a:rPr sz="1275" b="1">
                <a:solidFill>
                  <a:srgbClr val="FF6A00"/>
                </a:solidFill>
              </a:rPr>
              <a:t>구현 완료</a:t>
            </a:r>
          </a:p>
        </p:txBody>
      </p:sp>
      <p:sp>
        <p:nvSpPr>
          <p:cNvPr id="9" name="dot-0">
            <a:extLst xmlns:a="http://schemas.openxmlformats.org/drawingml/2006/main">
              <a:ext uri="{FF2B5EF4-FFF2-40B4-BE49-F238E27FC236}">
                <a16:creationId xmlns:a16="http://schemas.microsoft.com/office/drawing/2014/main" id="{C3538D19-0241-4D76-AAC7-10BBA670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0">
            <a:extLst xmlns:a="http://schemas.openxmlformats.org/drawingml/2006/main">
              <a:ext uri="{FF2B5EF4-FFF2-40B4-BE49-F238E27FC236}">
                <a16:creationId xmlns:a16="http://schemas.microsoft.com/office/drawing/2014/main" id="{CB521DE2-4A6E-4B31-87B4-E8BD316C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대시보드 화면과 고정 사이드바 구성</a:t>
            </a:r>
          </a:p>
        </p:txBody>
      </p:sp>
      <p:sp>
        <p:nvSpPr>
          <p:cNvPr id="11" name="dot-1">
            <a:extLst xmlns:a="http://schemas.openxmlformats.org/drawingml/2006/main">
              <a:ext uri="{FF2B5EF4-FFF2-40B4-BE49-F238E27FC236}">
                <a16:creationId xmlns:a16="http://schemas.microsoft.com/office/drawing/2014/main" id="{4414A63C-E730-4C85-9CBB-1F5E1D30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F32F5101-80CB-4EB0-B2FE-4A9298CC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Node.js 기반 정적 파일·API 서버 구현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15BEB079-A05C-4B1F-8B0B-97C328D3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178C9D3F-74C8-4784-B47A-1974209A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814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PostgreSQL containers 테이블 설계</a:t>
            </a:r>
          </a:p>
        </p:txBody>
      </p:sp>
      <p:sp>
        <p:nvSpPr>
          <p:cNvPr id="15" name="dot-3">
            <a:extLst xmlns:a="http://schemas.openxmlformats.org/drawingml/2006/main">
              <a:ext uri="{FF2B5EF4-FFF2-40B4-BE49-F238E27FC236}">
                <a16:creationId xmlns:a16="http://schemas.microsoft.com/office/drawing/2014/main" id="{C36032FF-DD94-45CC-8943-C46F130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F122A958-E263-4501-870B-DC3BC7B6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767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컨테이너 목록과 요약 데이터 연동</a:t>
            </a:r>
          </a:p>
        </p:txBody>
      </p:sp>
      <p:sp>
        <p:nvSpPr>
          <p:cNvPr id="17" name="why">
            <a:extLst xmlns:a="http://schemas.openxmlformats.org/drawingml/2006/main">
              <a:ext uri="{FF2B5EF4-FFF2-40B4-BE49-F238E27FC236}">
                <a16:creationId xmlns:a16="http://schemas.microsoft.com/office/drawing/2014/main" id="{07B13C99-E7FB-4E1D-8241-D3FAF42A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RESULT</a:t>
            </a:r>
          </a:p>
        </p:txBody>
      </p:sp>
      <p:sp>
        <p:nvSpPr>
          <p:cNvPr id="18" name="why-answer">
            <a:extLst xmlns:a="http://schemas.openxmlformats.org/drawingml/2006/main">
              <a:ext uri="{FF2B5EF4-FFF2-40B4-BE49-F238E27FC236}">
                <a16:creationId xmlns:a16="http://schemas.microsoft.com/office/drawing/2014/main" id="{80AFE50E-2A66-44DC-85C2-7E90F8F9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768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화면–서버–DB가 연결되는 컨테이너 모니터링 기본 구조 완성</a:t>
            </a:r>
          </a:p>
        </p:txBody>
      </p:sp>
    </p:spTree>
    <p:extLst>
      <p:ext uri="{BB962C8B-B14F-4D97-AF65-F5344CB8AC3E}">
        <p14:creationId xmlns:p14="http://schemas.microsoft.com/office/powerpoint/2010/main" val="437763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num-4">
            <a:extLst xmlns:a="http://schemas.openxmlformats.org/drawingml/2006/main">
              <a:ext uri="{FF2B5EF4-FFF2-40B4-BE49-F238E27FC236}">
                <a16:creationId xmlns:a16="http://schemas.microsoft.com/office/drawing/2014/main" id="{E44C637C-90F2-4F02-80AB-F5FA1E93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E776894-275C-4B1B-A76D-D1180499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시스템은 화면–서버–DB의 3단 구조로 동작한다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35E7F-50D9-4500-B78A-E7ADF7DE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395A0283-FC3A-4CFE-8509-F6153433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77777"/>
                </a:solidFill>
              </a:defRPr>
            </a:pPr>
            <a:r>
              <a:rPr sz="750" b="1">
                <a:solidFill>
                  <a:srgbClr val="777777"/>
                </a:solidFill>
              </a:rPr>
              <a:t>LCX CONTAINER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0485C-185C-46C7-902C-2FD00A65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6F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76DE2-AF57-4C72-A075-6E017591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432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6F6F"/>
            </a:solidFill>
            <a:prstDash val="solid"/>
          </a:ln>
        </p:spPr>
      </p:sp>
      <p:sp>
        <p:nvSpPr>
          <p:cNvPr id="7" name="http">
            <a:extLst xmlns:a="http://schemas.openxmlformats.org/drawingml/2006/main">
              <a:ext uri="{FF2B5EF4-FFF2-40B4-BE49-F238E27FC236}">
                <a16:creationId xmlns:a16="http://schemas.microsoft.com/office/drawing/2014/main" id="{9C21CEA3-4D4F-44B2-B785-AC766EDA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A00"/>
                </a:solidFill>
              </a:defRPr>
            </a:pPr>
            <a:r>
              <a:rPr sz="900" b="1">
                <a:solidFill>
                  <a:srgbClr val="FF6A00"/>
                </a:solidFill>
              </a:rPr>
              <a:t>HTTP / JSON</a:t>
            </a:r>
          </a:p>
        </p:txBody>
      </p:sp>
      <p:sp>
        <p:nvSpPr>
          <p:cNvPr id="8" name="sql">
            <a:extLst xmlns:a="http://schemas.openxmlformats.org/drawingml/2006/main">
              <a:ext uri="{FF2B5EF4-FFF2-40B4-BE49-F238E27FC236}">
                <a16:creationId xmlns:a16="http://schemas.microsoft.com/office/drawing/2014/main" id="{FF6079A3-3DB6-47E5-8E26-A80B8B87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A00"/>
                </a:solidFill>
              </a:defRPr>
            </a:pPr>
            <a:r>
              <a:rPr sz="900" b="1">
                <a:solidFill>
                  <a:srgbClr val="FF6A00"/>
                </a:solidFill>
              </a:rPr>
              <a:t>SQL</a:t>
            </a:r>
          </a:p>
        </p:txBody>
      </p:sp>
      <p:sp>
        <p:nvSpPr>
          <p:cNvPr id="9" name="arch-0">
            <a:extLst xmlns:a="http://schemas.openxmlformats.org/drawingml/2006/main">
              <a:ext uri="{FF2B5EF4-FFF2-40B4-BE49-F238E27FC236}">
                <a16:creationId xmlns:a16="http://schemas.microsoft.com/office/drawing/2014/main" id="{62A740B6-1B51-4B9E-959C-B37B51FE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414141"/>
            </a:solidFill>
            <a:prstDash val="solid"/>
          </a:ln>
        </p:spPr>
      </p:sp>
      <p:sp>
        <p:nvSpPr>
          <p:cNvPr id="10" name="arch-t-0">
            <a:extLst xmlns:a="http://schemas.openxmlformats.org/drawingml/2006/main">
              <a:ext uri="{FF2B5EF4-FFF2-40B4-BE49-F238E27FC236}">
                <a16:creationId xmlns:a16="http://schemas.microsoft.com/office/drawing/2014/main" id="{C556BC70-682B-401F-8822-504DED26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CLIENT</a:t>
            </a:r>
          </a:p>
        </p:txBody>
      </p:sp>
      <p:sp>
        <p:nvSpPr>
          <p:cNvPr id="11" name="arch-b-0">
            <a:extLst xmlns:a="http://schemas.openxmlformats.org/drawingml/2006/main">
              <a:ext uri="{FF2B5EF4-FFF2-40B4-BE49-F238E27FC236}">
                <a16:creationId xmlns:a16="http://schemas.microsoft.com/office/drawing/2014/main" id="{CE276BC1-7E2C-4A69-BFED-55B7B2A9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2019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HTML · CSS · JavaScript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대시보드 렌더링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새로고침 요청</a:t>
            </a:r>
          </a:p>
        </p:txBody>
      </p:sp>
      <p:sp>
        <p:nvSpPr>
          <p:cNvPr id="12" name="arch-1">
            <a:extLst xmlns:a="http://schemas.openxmlformats.org/drawingml/2006/main">
              <a:ext uri="{FF2B5EF4-FFF2-40B4-BE49-F238E27FC236}">
                <a16:creationId xmlns:a16="http://schemas.microsoft.com/office/drawing/2014/main" id="{00992407-0272-4A18-80B0-CAD0F69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t-1">
            <a:extLst xmlns:a="http://schemas.openxmlformats.org/drawingml/2006/main">
              <a:ext uri="{FF2B5EF4-FFF2-40B4-BE49-F238E27FC236}">
                <a16:creationId xmlns:a16="http://schemas.microsoft.com/office/drawing/2014/main" id="{9CEDBD5C-8650-44B9-BA35-71FBEC67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B0B"/>
                </a:solidFill>
              </a:defRPr>
            </a:pPr>
            <a:r>
              <a:rPr sz="1350" b="1">
                <a:solidFill>
                  <a:srgbClr val="0B0B0B"/>
                </a:solidFill>
              </a:rPr>
              <a:t>NODE.JS SERVER</a:t>
            </a:r>
          </a:p>
        </p:txBody>
      </p:sp>
      <p:sp>
        <p:nvSpPr>
          <p:cNvPr id="14" name="arch-b-1">
            <a:extLst xmlns:a="http://schemas.openxmlformats.org/drawingml/2006/main">
              <a:ext uri="{FF2B5EF4-FFF2-40B4-BE49-F238E27FC236}">
                <a16:creationId xmlns:a16="http://schemas.microsoft.com/office/drawing/2014/main" id="{4F7B276E-AB32-4A94-AA1A-7F646FA1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019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정적 파일 제공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GET /api/dashboard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요약 데이터 계산</a:t>
            </a:r>
          </a:p>
        </p:txBody>
      </p:sp>
      <p:sp>
        <p:nvSpPr>
          <p:cNvPr id="15" name="arch-2">
            <a:extLst xmlns:a="http://schemas.openxmlformats.org/drawingml/2006/main">
              <a:ext uri="{FF2B5EF4-FFF2-40B4-BE49-F238E27FC236}">
                <a16:creationId xmlns:a16="http://schemas.microsoft.com/office/drawing/2014/main" id="{5848CCBE-937A-42D0-909A-56C2AE5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414141"/>
            </a:solidFill>
            <a:prstDash val="solid"/>
          </a:ln>
        </p:spPr>
      </p:sp>
      <p:sp>
        <p:nvSpPr>
          <p:cNvPr id="16" name="arch-t-2">
            <a:extLst xmlns:a="http://schemas.openxmlformats.org/drawingml/2006/main">
              <a:ext uri="{FF2B5EF4-FFF2-40B4-BE49-F238E27FC236}">
                <a16:creationId xmlns:a16="http://schemas.microsoft.com/office/drawing/2014/main" id="{8945F8A3-6913-468C-8E02-4C2A7AAB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POSTGRESQL</a:t>
            </a:r>
          </a:p>
        </p:txBody>
      </p:sp>
      <p:sp>
        <p:nvSpPr>
          <p:cNvPr id="17" name="arch-b-2">
            <a:extLst xmlns:a="http://schemas.openxmlformats.org/drawingml/2006/main">
              <a:ext uri="{FF2B5EF4-FFF2-40B4-BE49-F238E27FC236}">
                <a16:creationId xmlns:a16="http://schemas.microsoft.com/office/drawing/2014/main" id="{E5D44A17-3705-416D-84F5-A47F6D61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2019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containers 테이블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상태·이미지·포트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CPU·메모리 저장</a:t>
            </a:r>
          </a:p>
        </p:txBody>
      </p:sp>
      <p:sp>
        <p:nvSpPr>
          <p:cNvPr id="18" name="flow1">
            <a:extLst xmlns:a="http://schemas.openxmlformats.org/drawingml/2006/main">
              <a:ext uri="{FF2B5EF4-FFF2-40B4-BE49-F238E27FC236}">
                <a16:creationId xmlns:a16="http://schemas.microsoft.com/office/drawing/2014/main" id="{F79DFD7E-2ED5-42A0-9070-03D30E6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58585"/>
                </a:solidFill>
              </a:defRPr>
            </a:pPr>
            <a:r>
              <a:rPr sz="1050" b="1">
                <a:solidFill>
                  <a:srgbClr val="858585"/>
                </a:solidFill>
              </a:rPr>
              <a:t>사용자 요청</a:t>
            </a:r>
          </a:p>
        </p:txBody>
      </p:sp>
      <p:sp>
        <p:nvSpPr>
          <p:cNvPr id="19" name="flow2">
            <a:extLst xmlns:a="http://schemas.openxmlformats.org/drawingml/2006/main">
              <a:ext uri="{FF2B5EF4-FFF2-40B4-BE49-F238E27FC236}">
                <a16:creationId xmlns:a16="http://schemas.microsoft.com/office/drawing/2014/main" id="{26F988D5-46A3-44FB-BF55-57ABE55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9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58585"/>
                </a:solidFill>
              </a:defRPr>
            </a:pPr>
            <a:r>
              <a:rPr sz="1050" b="1">
                <a:solidFill>
                  <a:srgbClr val="858585"/>
                </a:solidFill>
              </a:rPr>
              <a:t>조회 및 요약</a:t>
            </a:r>
          </a:p>
        </p:txBody>
      </p:sp>
      <p:sp>
        <p:nvSpPr>
          <p:cNvPr id="20" name="flow3">
            <a:extLst xmlns:a="http://schemas.openxmlformats.org/drawingml/2006/main">
              <a:ext uri="{FF2B5EF4-FFF2-40B4-BE49-F238E27FC236}">
                <a16:creationId xmlns:a16="http://schemas.microsoft.com/office/drawing/2014/main" id="{D0845DF8-0453-4ED6-9FFC-658BBDAB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9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858585"/>
                </a:solidFill>
              </a:defRPr>
            </a:pPr>
            <a:r>
              <a:rPr sz="1050" b="1">
                <a:solidFill>
                  <a:srgbClr val="858585"/>
                </a:solidFill>
              </a:rPr>
              <a:t>영속 데이터</a:t>
            </a:r>
          </a:p>
        </p:txBody>
      </p:sp>
    </p:spTree>
    <p:extLst>
      <p:ext uri="{BB962C8B-B14F-4D97-AF65-F5344CB8AC3E}">
        <p14:creationId xmlns:p14="http://schemas.microsoft.com/office/powerpoint/2010/main" val="912296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num-5">
            <a:extLst xmlns:a="http://schemas.openxmlformats.org/drawingml/2006/main">
              <a:ext uri="{FF2B5EF4-FFF2-40B4-BE49-F238E27FC236}">
                <a16:creationId xmlns:a16="http://schemas.microsoft.com/office/drawing/2014/main" id="{2C8795CF-E55C-4374-8840-5074992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1B6586E-5275-47E1-B461-DB04DA76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주요 기능 구현한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1FAC7-A6ED-44A7-8702-856B991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AED1663C-85C9-45CA-96C5-FD1DFC51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888888"/>
                </a:solidFill>
              </a:defRPr>
            </a:pPr>
            <a:r>
              <a:rPr sz="750" b="1">
                <a:solidFill>
                  <a:srgbClr val="888888"/>
                </a:solidFill>
              </a:rPr>
              <a:t>LCX CONTAINER MANAGEMENT</a:t>
            </a:r>
          </a:p>
        </p:txBody>
      </p:sp>
      <p:sp>
        <p:nvSpPr>
          <p:cNvPr id="5" name="feature-n-0">
            <a:extLst xmlns:a="http://schemas.openxmlformats.org/drawingml/2006/main">
              <a:ext uri="{FF2B5EF4-FFF2-40B4-BE49-F238E27FC236}">
                <a16:creationId xmlns:a16="http://schemas.microsoft.com/office/drawing/2014/main" id="{0E8342E3-67EE-4DA0-8BAC-31677ACB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A00"/>
                </a:solidFill>
              </a:defRPr>
            </a:pPr>
            <a:r>
              <a:rPr sz="19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6" name="feature-t-0">
            <a:extLst xmlns:a="http://schemas.openxmlformats.org/drawingml/2006/main">
              <a:ext uri="{FF2B5EF4-FFF2-40B4-BE49-F238E27FC236}">
                <a16:creationId xmlns:a16="http://schemas.microsoft.com/office/drawing/2014/main" id="{3FC6E7FA-0DDD-4F18-8848-28C29D6B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52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상태 요약</a:t>
            </a:r>
          </a:p>
        </p:txBody>
      </p:sp>
      <p:sp>
        <p:nvSpPr>
          <p:cNvPr id="7" name="feature-b-0">
            <a:extLst xmlns:a="http://schemas.openxmlformats.org/drawingml/2006/main">
              <a:ext uri="{FF2B5EF4-FFF2-40B4-BE49-F238E27FC236}">
                <a16:creationId xmlns:a16="http://schemas.microsoft.com/office/drawing/2014/main" id="{BFDD3E28-B601-4387-9506-EDF7A4A1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전체·실행·중지·오류 수를 상단에서 즉시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D2891-84A9-4772-A389-64F109F6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9" name="feature-n-1">
            <a:extLst xmlns:a="http://schemas.openxmlformats.org/drawingml/2006/main">
              <a:ext uri="{FF2B5EF4-FFF2-40B4-BE49-F238E27FC236}">
                <a16:creationId xmlns:a16="http://schemas.microsoft.com/office/drawing/2014/main" id="{F035063C-767C-4787-94A9-DA363290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A00"/>
                </a:solidFill>
              </a:defRPr>
            </a:pPr>
            <a:r>
              <a:rPr sz="19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0" name="feature-t-1">
            <a:extLst xmlns:a="http://schemas.openxmlformats.org/drawingml/2006/main">
              <a:ext uri="{FF2B5EF4-FFF2-40B4-BE49-F238E27FC236}">
                <a16:creationId xmlns:a16="http://schemas.microsoft.com/office/drawing/2014/main" id="{07B1FEC6-5D58-4462-9E9C-07BEFF87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43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자원 현황</a:t>
            </a:r>
          </a:p>
        </p:txBody>
      </p:sp>
      <p:sp>
        <p:nvSpPr>
          <p:cNvPr id="11" name="feature-b-1">
            <a:extLst xmlns:a="http://schemas.openxmlformats.org/drawingml/2006/main">
              <a:ext uri="{FF2B5EF4-FFF2-40B4-BE49-F238E27FC236}">
                <a16:creationId xmlns:a16="http://schemas.microsoft.com/office/drawing/2014/main" id="{3FB87E7B-8DBF-4F83-B941-BC6770B6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CPU·메모리·디스크와 기타 자원을 묶어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037EE-1B14-4AB5-B188-8489AA8D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3" name="feature-n-2">
            <a:extLst xmlns:a="http://schemas.openxmlformats.org/drawingml/2006/main">
              <a:ext uri="{FF2B5EF4-FFF2-40B4-BE49-F238E27FC236}">
                <a16:creationId xmlns:a16="http://schemas.microsoft.com/office/drawing/2014/main" id="{6BDD9DE2-33E2-427A-95E0-7DF7EACE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A00"/>
                </a:solidFill>
              </a:defRPr>
            </a:pPr>
            <a:r>
              <a:rPr sz="19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4" name="feature-t-2">
            <a:extLst xmlns:a="http://schemas.openxmlformats.org/drawingml/2006/main">
              <a:ext uri="{FF2B5EF4-FFF2-40B4-BE49-F238E27FC236}">
                <a16:creationId xmlns:a16="http://schemas.microsoft.com/office/drawing/2014/main" id="{3FA4E883-9B64-4122-BB28-7BA3C4BF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컨테이너 목록</a:t>
            </a:r>
          </a:p>
        </p:txBody>
      </p:sp>
      <p:sp>
        <p:nvSpPr>
          <p:cNvPr id="15" name="feature-b-2">
            <a:extLst xmlns:a="http://schemas.openxmlformats.org/drawingml/2006/main">
              <a:ext uri="{FF2B5EF4-FFF2-40B4-BE49-F238E27FC236}">
                <a16:creationId xmlns:a16="http://schemas.microsoft.com/office/drawing/2014/main" id="{80BEDA0A-6DAF-479A-B519-A9B0BD88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이름·상태·이미지·포트·사용량을 표로 정리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03D03-4ACA-4020-8430-4513AA19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7" name="feature-n-3">
            <a:extLst xmlns:a="http://schemas.openxmlformats.org/drawingml/2006/main">
              <a:ext uri="{FF2B5EF4-FFF2-40B4-BE49-F238E27FC236}">
                <a16:creationId xmlns:a16="http://schemas.microsoft.com/office/drawing/2014/main" id="{145457F7-AE59-4FD2-8C91-1D8BB75E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A00"/>
                </a:solidFill>
              </a:defRPr>
            </a:pPr>
            <a:r>
              <a:rPr sz="195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18" name="feature-t-3">
            <a:extLst xmlns:a="http://schemas.openxmlformats.org/drawingml/2006/main">
              <a:ext uri="{FF2B5EF4-FFF2-40B4-BE49-F238E27FC236}">
                <a16:creationId xmlns:a16="http://schemas.microsoft.com/office/drawing/2014/main" id="{FEBB9CD7-A2F0-418C-836D-1BC5A1E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244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수동 갱신</a:t>
            </a:r>
          </a:p>
        </p:txBody>
      </p:sp>
      <p:sp>
        <p:nvSpPr>
          <p:cNvPr id="19" name="feature-b-3">
            <a:extLst xmlns:a="http://schemas.openxmlformats.org/drawingml/2006/main">
              <a:ext uri="{FF2B5EF4-FFF2-40B4-BE49-F238E27FC236}">
                <a16:creationId xmlns:a16="http://schemas.microsoft.com/office/drawing/2014/main" id="{FA31F05A-59E0-46DF-B989-58FAF85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새로고침 버튼으로 최신 대시보드 데이터를 재요청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BEAC0-0ECA-443A-A798-C3B73574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530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A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0564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num-6">
            <a:extLst xmlns:a="http://schemas.openxmlformats.org/drawingml/2006/main">
              <a:ext uri="{FF2B5EF4-FFF2-40B4-BE49-F238E27FC236}">
                <a16:creationId xmlns:a16="http://schemas.microsoft.com/office/drawing/2014/main" id="{9F5EBE85-23A9-49E8-ACA4-1ADAB94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B42D8FA-A0A9-4F3C-82F9-F1740998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데이터 모델과 API가 화면 표시를 직접 지원한다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7BC94-4E44-43F8-9E0E-B6F0972C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EF32DBAD-B86B-439F-B301-39A17480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77777"/>
                </a:solidFill>
              </a:defRPr>
            </a:pPr>
            <a:r>
              <a:rPr sz="750" b="1">
                <a:solidFill>
                  <a:srgbClr val="777777"/>
                </a:solidFill>
              </a:rPr>
              <a:t>LCX CONTAINER MANAGEMENT</a:t>
            </a:r>
          </a:p>
        </p:txBody>
      </p:sp>
      <p:sp>
        <p:nvSpPr>
          <p:cNvPr id="5" name="db-label">
            <a:extLst xmlns:a="http://schemas.openxmlformats.org/drawingml/2006/main">
              <a:ext uri="{FF2B5EF4-FFF2-40B4-BE49-F238E27FC236}">
                <a16:creationId xmlns:a16="http://schemas.microsoft.com/office/drawing/2014/main" id="{EF619720-1ED9-4472-9AF6-EB447349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DATABASE</a:t>
            </a:r>
          </a:p>
        </p:txBody>
      </p:sp>
      <p:sp>
        <p:nvSpPr>
          <p:cNvPr id="6" name="db-title">
            <a:extLst xmlns:a="http://schemas.openxmlformats.org/drawingml/2006/main">
              <a:ext uri="{FF2B5EF4-FFF2-40B4-BE49-F238E27FC236}">
                <a16:creationId xmlns:a16="http://schemas.microsoft.com/office/drawing/2014/main" id="{31770CCF-21B9-4F0A-8B97-2AB86823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containers</a:t>
            </a:r>
          </a:p>
        </p:txBody>
      </p:sp>
      <p:sp>
        <p:nvSpPr>
          <p:cNvPr id="7" name="field-0">
            <a:extLst xmlns:a="http://schemas.openxmlformats.org/drawingml/2006/main">
              <a:ext uri="{FF2B5EF4-FFF2-40B4-BE49-F238E27FC236}">
                <a16:creationId xmlns:a16="http://schemas.microsoft.com/office/drawing/2014/main" id="{F29E53D7-27B3-42E9-868C-A046B13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id · name · status</a:t>
            </a:r>
          </a:p>
        </p:txBody>
      </p:sp>
      <p:sp>
        <p:nvSpPr>
          <p:cNvPr id="8" name="field-1">
            <a:extLst xmlns:a="http://schemas.openxmlformats.org/drawingml/2006/main">
              <a:ext uri="{FF2B5EF4-FFF2-40B4-BE49-F238E27FC236}">
                <a16:creationId xmlns:a16="http://schemas.microsoft.com/office/drawing/2014/main" id="{D8D12FFC-7D8D-4974-9997-4C1661F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B8B8"/>
                </a:solidFill>
              </a:defRPr>
            </a:pPr>
            <a:r>
              <a:rPr sz="1350" b="0">
                <a:solidFill>
                  <a:srgbClr val="B8B8B8"/>
                </a:solidFill>
              </a:rPr>
              <a:t>image · ports</a:t>
            </a:r>
          </a:p>
        </p:txBody>
      </p:sp>
      <p:sp>
        <p:nvSpPr>
          <p:cNvPr id="9" name="field-2">
            <a:extLst xmlns:a="http://schemas.openxmlformats.org/drawingml/2006/main">
              <a:ext uri="{FF2B5EF4-FFF2-40B4-BE49-F238E27FC236}">
                <a16:creationId xmlns:a16="http://schemas.microsoft.com/office/drawing/2014/main" id="{7E04BDAA-DE26-41C5-BA0A-67DDDC91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B8B8"/>
                </a:solidFill>
              </a:defRPr>
            </a:pPr>
            <a:r>
              <a:rPr sz="1350" b="0">
                <a:solidFill>
                  <a:srgbClr val="B8B8B8"/>
                </a:solidFill>
              </a:rPr>
              <a:t>cpu_percent · memory_mb</a:t>
            </a:r>
          </a:p>
        </p:txBody>
      </p:sp>
      <p:sp>
        <p:nvSpPr>
          <p:cNvPr id="10" name="field-3">
            <a:extLst xmlns:a="http://schemas.openxmlformats.org/drawingml/2006/main">
              <a:ext uri="{FF2B5EF4-FFF2-40B4-BE49-F238E27FC236}">
                <a16:creationId xmlns:a16="http://schemas.microsoft.com/office/drawing/2014/main" id="{5E4989DB-B9EE-412A-B24B-13568E19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B8B8"/>
                </a:solidFill>
              </a:defRPr>
            </a:pPr>
            <a:r>
              <a:rPr sz="1350" b="0">
                <a:solidFill>
                  <a:srgbClr val="B8B8B8"/>
                </a:solidFill>
              </a:rPr>
              <a:t>created_at · updated_at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BCA64-641E-4D71-8F9D-4316CA8A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  <a:prstDash val="solid"/>
          </a:ln>
        </p:spPr>
      </p:sp>
      <p:sp>
        <p:nvSpPr>
          <p:cNvPr id="12" name="api-panel">
            <a:extLst xmlns:a="http://schemas.openxmlformats.org/drawingml/2006/main">
              <a:ext uri="{FF2B5EF4-FFF2-40B4-BE49-F238E27FC236}">
                <a16:creationId xmlns:a16="http://schemas.microsoft.com/office/drawing/2014/main" id="{CD6D2FC0-6F83-4A84-917D-B1477B5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90700"/>
            <a:ext cx="56197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3" name="api-title">
            <a:extLst xmlns:a="http://schemas.openxmlformats.org/drawingml/2006/main">
              <a:ext uri="{FF2B5EF4-FFF2-40B4-BE49-F238E27FC236}">
                <a16:creationId xmlns:a16="http://schemas.microsoft.com/office/drawing/2014/main" id="{E57254FC-582E-46F7-8F08-79621A4E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6A00"/>
                </a:solidFill>
              </a:defRPr>
            </a:pPr>
            <a:r>
              <a:rPr sz="1800" b="1">
                <a:solidFill>
                  <a:srgbClr val="FF6A00"/>
                </a:solidFill>
              </a:rPr>
              <a:t>GET  /api/dashboard</a:t>
            </a:r>
          </a:p>
        </p:txBody>
      </p:sp>
      <p:sp>
        <p:nvSpPr>
          <p:cNvPr id="14" name="json">
            <a:extLst xmlns:a="http://schemas.openxmlformats.org/drawingml/2006/main">
              <a:ext uri="{FF2B5EF4-FFF2-40B4-BE49-F238E27FC236}">
                <a16:creationId xmlns:a16="http://schemas.microsoft.com/office/drawing/2014/main" id="{C919B8F0-8599-4C89-A25E-8670A55D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{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"containers": [...],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"summary": {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  "total": 3, "running": 2,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  "paused": 0, "errors":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}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}</a:t>
            </a:r>
          </a:p>
        </p:txBody>
      </p:sp>
      <p:sp>
        <p:nvSpPr>
          <p:cNvPr id="15" name="constraint">
            <a:extLst xmlns:a="http://schemas.openxmlformats.org/drawingml/2006/main">
              <a:ext uri="{FF2B5EF4-FFF2-40B4-BE49-F238E27FC236}">
                <a16:creationId xmlns:a16="http://schemas.microsoft.com/office/drawing/2014/main" id="{AE2D6FE0-7A2A-4431-BE6B-0085160A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CHECK 제약조건으로 상태값을 running · stopped · paused · error로 제한</a:t>
            </a:r>
          </a:p>
        </p:txBody>
      </p:sp>
    </p:spTree>
    <p:extLst>
      <p:ext uri="{BB962C8B-B14F-4D97-AF65-F5344CB8AC3E}">
        <p14:creationId xmlns:p14="http://schemas.microsoft.com/office/powerpoint/2010/main" val="1728091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num-7">
            <a:extLst xmlns:a="http://schemas.openxmlformats.org/drawingml/2006/main">
              <a:ext uri="{FF2B5EF4-FFF2-40B4-BE49-F238E27FC236}">
                <a16:creationId xmlns:a16="http://schemas.microsoft.com/office/drawing/2014/main" id="{5B5CF83C-1807-48CE-82B9-40CBE68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B2A3986-0AF3-40AF-A7C6-772D97AD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화면은 정보 우선순위와 반응형 구조에 맞춰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C1F67-DCF7-4B13-BE4B-EF5C8BF7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0DA57F1E-2C26-4F6E-BBCC-6A9FB88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888888"/>
                </a:solidFill>
              </a:defRPr>
            </a:pPr>
            <a:r>
              <a:rPr sz="750" b="1">
                <a:solidFill>
                  <a:srgbClr val="888888"/>
                </a:solidFill>
              </a:rPr>
              <a:t>LCX CONTAINER MANAGEMENT</a:t>
            </a:r>
          </a:p>
        </p:txBody>
      </p:sp>
      <p:sp>
        <p:nvSpPr>
          <p:cNvPr id="5" name="screen">
            <a:extLst xmlns:a="http://schemas.openxmlformats.org/drawingml/2006/main">
              <a:ext uri="{FF2B5EF4-FFF2-40B4-BE49-F238E27FC236}">
                <a16:creationId xmlns:a16="http://schemas.microsoft.com/office/drawing/2014/main" id="{DE1ABAA9-1B3A-4D1B-9CF1-F4C6F370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172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C59DB246-73A3-44AE-8034-0FA9291A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573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bar">
            <a:extLst xmlns:a="http://schemas.openxmlformats.org/drawingml/2006/main">
              <a:ext uri="{FF2B5EF4-FFF2-40B4-BE49-F238E27FC236}">
                <a16:creationId xmlns:a16="http://schemas.microsoft.com/office/drawing/2014/main" id="{5E282C35-95AD-45E8-8D23-C8BD11B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7645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d-0">
            <a:extLst xmlns:a="http://schemas.openxmlformats.org/drawingml/2006/main">
              <a:ext uri="{FF2B5EF4-FFF2-40B4-BE49-F238E27FC236}">
                <a16:creationId xmlns:a16="http://schemas.microsoft.com/office/drawing/2014/main" id="{6CCFEAF8-978C-476E-B0F4-DE8775E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47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B9B075DB-41F5-4EB2-A31F-B7F4F87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18218ACE-5E8C-4612-A989-8B98EB48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80070882-97BA-49A6-B3E4-FF477DD2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">
            <a:extLst xmlns:a="http://schemas.openxmlformats.org/drawingml/2006/main">
              <a:ext uri="{FF2B5EF4-FFF2-40B4-BE49-F238E27FC236}">
                <a16:creationId xmlns:a16="http://schemas.microsoft.com/office/drawing/2014/main" id="{B0D76317-02EF-4B42-AAF5-359BD6D2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62350"/>
            <a:ext cx="4476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B4D47-03DA-4135-AC62-D7233067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8372-300B-45FD-8364-0CFFCC2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62425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10489-C839-4D1D-AF5B-7E549B0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67EA1-84E5-4C9D-B5B0-2FD35A93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76775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B"/>
            </a:solidFill>
            <a:prstDash val="solid"/>
          </a:ln>
        </p:spPr>
      </p:sp>
      <p:sp>
        <p:nvSpPr>
          <p:cNvPr id="17" name="desktop">
            <a:extLst xmlns:a="http://schemas.openxmlformats.org/drawingml/2006/main">
              <a:ext uri="{FF2B5EF4-FFF2-40B4-BE49-F238E27FC236}">
                <a16:creationId xmlns:a16="http://schemas.microsoft.com/office/drawing/2014/main" id="{BE96738E-31C2-4391-9B69-88E9AC37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DESKTOP</a:t>
            </a:r>
          </a:p>
        </p:txBody>
      </p:sp>
      <p:sp>
        <p:nvSpPr>
          <p:cNvPr id="18" name="ui-label">
            <a:extLst xmlns:a="http://schemas.openxmlformats.org/drawingml/2006/main">
              <a:ext uri="{FF2B5EF4-FFF2-40B4-BE49-F238E27FC236}">
                <a16:creationId xmlns:a16="http://schemas.microsoft.com/office/drawing/2014/main" id="{874CC2EE-E64B-4169-B6B7-4EB3D4E5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6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A00"/>
                </a:solidFill>
              </a:defRPr>
            </a:pPr>
            <a:r>
              <a:rPr sz="1275" b="1">
                <a:solidFill>
                  <a:srgbClr val="FF6A00"/>
                </a:solidFill>
              </a:rPr>
              <a:t>설계 기준</a:t>
            </a:r>
          </a:p>
        </p:txBody>
      </p:sp>
      <p:sp>
        <p:nvSpPr>
          <p:cNvPr id="19" name="ui-t-0">
            <a:extLst xmlns:a="http://schemas.openxmlformats.org/drawingml/2006/main">
              <a:ext uri="{FF2B5EF4-FFF2-40B4-BE49-F238E27FC236}">
                <a16:creationId xmlns:a16="http://schemas.microsoft.com/office/drawing/2014/main" id="{62CFB7DC-DFC8-4B2F-9A31-3757701F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38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고정 사이드바</a:t>
            </a:r>
          </a:p>
        </p:txBody>
      </p:sp>
      <p:sp>
        <p:nvSpPr>
          <p:cNvPr id="20" name="ui-b-0">
            <a:extLst xmlns:a="http://schemas.openxmlformats.org/drawingml/2006/main">
              <a:ext uri="{FF2B5EF4-FFF2-40B4-BE49-F238E27FC236}">
                <a16:creationId xmlns:a16="http://schemas.microsoft.com/office/drawing/2014/main" id="{9146C008-E355-4F28-A743-AFC9D9FD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주요 관리 메뉴를 일관되게 배치</a:t>
            </a:r>
          </a:p>
        </p:txBody>
      </p:sp>
      <p:sp>
        <p:nvSpPr>
          <p:cNvPr id="21" name="ui-t-1">
            <a:extLst xmlns:a="http://schemas.openxmlformats.org/drawingml/2006/main">
              <a:ext uri="{FF2B5EF4-FFF2-40B4-BE49-F238E27FC236}">
                <a16:creationId xmlns:a16="http://schemas.microsoft.com/office/drawing/2014/main" id="{9B78975C-559E-40E8-80C1-20BA3975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카드형 요약</a:t>
            </a:r>
          </a:p>
        </p:txBody>
      </p:sp>
      <p:sp>
        <p:nvSpPr>
          <p:cNvPr id="22" name="ui-b-1">
            <a:extLst xmlns:a="http://schemas.openxmlformats.org/drawingml/2006/main">
              <a:ext uri="{FF2B5EF4-FFF2-40B4-BE49-F238E27FC236}">
                <a16:creationId xmlns:a16="http://schemas.microsoft.com/office/drawing/2014/main" id="{9CCB8CF8-CB33-49F9-A5EC-3E829845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623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숫자와 상태를 빠르게 스캔</a:t>
            </a:r>
          </a:p>
        </p:txBody>
      </p:sp>
      <p:sp>
        <p:nvSpPr>
          <p:cNvPr id="23" name="ui-t-2">
            <a:extLst xmlns:a="http://schemas.openxmlformats.org/drawingml/2006/main">
              <a:ext uri="{FF2B5EF4-FFF2-40B4-BE49-F238E27FC236}">
                <a16:creationId xmlns:a16="http://schemas.microsoft.com/office/drawing/2014/main" id="{7AED9827-926F-4DC8-B15C-578B4CB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표 기반 목록</a:t>
            </a:r>
          </a:p>
        </p:txBody>
      </p:sp>
      <p:sp>
        <p:nvSpPr>
          <p:cNvPr id="24" name="ui-b-2">
            <a:extLst xmlns:a="http://schemas.openxmlformats.org/drawingml/2006/main">
              <a:ext uri="{FF2B5EF4-FFF2-40B4-BE49-F238E27FC236}">
                <a16:creationId xmlns:a16="http://schemas.microsoft.com/office/drawing/2014/main" id="{453B77F0-F4F5-4B9A-BEE7-BCCD4150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컨테이너별 세부 정보를 비교</a:t>
            </a:r>
          </a:p>
        </p:txBody>
      </p:sp>
      <p:sp>
        <p:nvSpPr>
          <p:cNvPr id="25" name="ui-t-3">
            <a:extLst xmlns:a="http://schemas.openxmlformats.org/drawingml/2006/main">
              <a:ext uri="{FF2B5EF4-FFF2-40B4-BE49-F238E27FC236}">
                <a16:creationId xmlns:a16="http://schemas.microsoft.com/office/drawing/2014/main" id="{DADFBED7-A57A-4588-AC8E-361C48C5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반응형 전환</a:t>
            </a:r>
          </a:p>
        </p:txBody>
      </p:sp>
      <p:sp>
        <p:nvSpPr>
          <p:cNvPr id="26" name="ui-b-3">
            <a:extLst xmlns:a="http://schemas.openxmlformats.org/drawingml/2006/main">
              <a:ext uri="{FF2B5EF4-FFF2-40B4-BE49-F238E27FC236}">
                <a16:creationId xmlns:a16="http://schemas.microsoft.com/office/drawing/2014/main" id="{89C66C5C-BDC6-4DFE-8F9B-30F556CE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0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900px·620px 기준으로 열과 메뉴 조정</a:t>
            </a:r>
          </a:p>
        </p:txBody>
      </p:sp>
    </p:spTree>
    <p:extLst>
      <p:ext uri="{BB962C8B-B14F-4D97-AF65-F5344CB8AC3E}">
        <p14:creationId xmlns:p14="http://schemas.microsoft.com/office/powerpoint/2010/main" val="1401546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num-8">
            <a:extLst xmlns:a="http://schemas.openxmlformats.org/drawingml/2006/main">
              <a:ext uri="{FF2B5EF4-FFF2-40B4-BE49-F238E27FC236}">
                <a16:creationId xmlns:a16="http://schemas.microsoft.com/office/drawing/2014/main" id="{667A5EBC-1B67-4C3F-9B9F-4AA52A84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0B3B4BD-A4E4-4804-998C-57611F48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다음 주에는 조회 기능을 실제 관리 기능으로 확장한다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5A8CC-4FEE-41E5-96E0-F8C184D0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2A06ACDC-62E7-46CB-B8F4-9C35BF3F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777777"/>
                </a:solidFill>
              </a:defRPr>
            </a:pPr>
            <a:r>
              <a:rPr sz="750" b="1">
                <a:solidFill>
                  <a:srgbClr val="777777"/>
                </a:solidFill>
              </a:rPr>
              <a:t>LCX CONTAINER MANAGEMENT</a:t>
            </a:r>
          </a:p>
        </p:txBody>
      </p:sp>
      <p:sp>
        <p:nvSpPr>
          <p:cNvPr id="5" name="done-label">
            <a:extLst xmlns:a="http://schemas.openxmlformats.org/drawingml/2006/main">
              <a:ext uri="{FF2B5EF4-FFF2-40B4-BE49-F238E27FC236}">
                <a16:creationId xmlns:a16="http://schemas.microsoft.com/office/drawing/2014/main" id="{9170E80B-4F1D-4F82-866F-322F1E0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A00"/>
                </a:solidFill>
              </a:defRPr>
            </a:pPr>
            <a:r>
              <a:rPr sz="1275" b="1">
                <a:solidFill>
                  <a:srgbClr val="FF6A00"/>
                </a:solidFill>
              </a:rPr>
              <a:t>저번 주까지 한 일</a:t>
            </a:r>
          </a:p>
        </p:txBody>
      </p:sp>
      <p:sp>
        <p:nvSpPr>
          <p:cNvPr id="6" name="done">
            <a:extLst xmlns:a="http://schemas.openxmlformats.org/drawingml/2006/main">
              <a:ext uri="{FF2B5EF4-FFF2-40B4-BE49-F238E27FC236}">
                <a16:creationId xmlns:a16="http://schemas.microsoft.com/office/drawing/2014/main" id="{48764411-AC4E-46A9-A0D6-8DE6B40B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000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DB 데이터 조회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상태 요약 계산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대시보드 렌더링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반응형 화면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28751-AB39-43CD-87DF-BFA750C1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242"/>
            </a:solidFill>
            <a:prstDash val="solid"/>
          </a:ln>
        </p:spPr>
      </p:sp>
      <p:sp>
        <p:nvSpPr>
          <p:cNvPr id="8" name="next-label">
            <a:extLst xmlns:a="http://schemas.openxmlformats.org/drawingml/2006/main">
              <a:ext uri="{FF2B5EF4-FFF2-40B4-BE49-F238E27FC236}">
                <a16:creationId xmlns:a16="http://schemas.microsoft.com/office/drawing/2014/main" id="{5ECA45B2-04FD-4C21-A6CD-BF1F2149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A00"/>
                </a:solidFill>
              </a:defRPr>
            </a:pPr>
            <a:r>
              <a:rPr sz="1275" b="1">
                <a:solidFill>
                  <a:srgbClr val="FF6A00"/>
                </a:solidFill>
              </a:rPr>
              <a:t>다음 주에 할 일</a:t>
            </a:r>
          </a:p>
        </p:txBody>
      </p:sp>
      <p:sp>
        <p:nvSpPr>
          <p:cNvPr id="9" name="next-n-0">
            <a:extLst xmlns:a="http://schemas.openxmlformats.org/drawingml/2006/main">
              <a:ext uri="{FF2B5EF4-FFF2-40B4-BE49-F238E27FC236}">
                <a16:creationId xmlns:a16="http://schemas.microsoft.com/office/drawing/2014/main" id="{CEEC85F6-A61E-4DEE-8D1E-7E39C9DC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next-0">
            <a:extLst xmlns:a="http://schemas.openxmlformats.org/drawingml/2006/main">
              <a:ext uri="{FF2B5EF4-FFF2-40B4-BE49-F238E27FC236}">
                <a16:creationId xmlns:a16="http://schemas.microsoft.com/office/drawing/2014/main" id="{997180A5-371E-451D-B3C8-BB43F4B9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컨테이너 시작·중지 API 연결</a:t>
            </a:r>
          </a:p>
        </p:txBody>
      </p:sp>
      <p:sp>
        <p:nvSpPr>
          <p:cNvPr id="11" name="next-n-1">
            <a:extLst xmlns:a="http://schemas.openxmlformats.org/drawingml/2006/main">
              <a:ext uri="{FF2B5EF4-FFF2-40B4-BE49-F238E27FC236}">
                <a16:creationId xmlns:a16="http://schemas.microsoft.com/office/drawing/2014/main" id="{27EDA4BB-0934-4FF8-95CD-A2A38D0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09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next-1">
            <a:extLst xmlns:a="http://schemas.openxmlformats.org/drawingml/2006/main">
              <a:ext uri="{FF2B5EF4-FFF2-40B4-BE49-F238E27FC236}">
                <a16:creationId xmlns:a16="http://schemas.microsoft.com/office/drawing/2014/main" id="{C64042F6-05AC-4E9F-9ABD-45CF1698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로그와 이벤트 실시간 표시</a:t>
            </a:r>
          </a:p>
        </p:txBody>
      </p:sp>
      <p:sp>
        <p:nvSpPr>
          <p:cNvPr id="13" name="next-n-2">
            <a:extLst xmlns:a="http://schemas.openxmlformats.org/drawingml/2006/main">
              <a:ext uri="{FF2B5EF4-FFF2-40B4-BE49-F238E27FC236}">
                <a16:creationId xmlns:a16="http://schemas.microsoft.com/office/drawing/2014/main" id="{8C7E95DA-82B4-4FB7-A42C-F836EEB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4" name="next-2">
            <a:extLst xmlns:a="http://schemas.openxmlformats.org/drawingml/2006/main">
              <a:ext uri="{FF2B5EF4-FFF2-40B4-BE49-F238E27FC236}">
                <a16:creationId xmlns:a16="http://schemas.microsoft.com/office/drawing/2014/main" id="{4F9E0B98-4CB6-477E-95CB-175571F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인증 및 권한 관리</a:t>
            </a:r>
          </a:p>
        </p:txBody>
      </p:sp>
      <p:sp>
        <p:nvSpPr>
          <p:cNvPr id="15" name="next-n-3">
            <a:extLst xmlns:a="http://schemas.openxmlformats.org/drawingml/2006/main">
              <a:ext uri="{FF2B5EF4-FFF2-40B4-BE49-F238E27FC236}">
                <a16:creationId xmlns:a16="http://schemas.microsoft.com/office/drawing/2014/main" id="{7E26CC08-0388-44B8-B3A0-A9A0657F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16" name="next-3">
            <a:extLst xmlns:a="http://schemas.openxmlformats.org/drawingml/2006/main">
              <a:ext uri="{FF2B5EF4-FFF2-40B4-BE49-F238E27FC236}">
                <a16:creationId xmlns:a16="http://schemas.microsoft.com/office/drawing/2014/main" id="{E27CA97D-EFD6-4248-9151-1AC5EA62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자원 사용량 차트와 알림 기능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60492141-76F7-40F0-83C7-32F3223C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885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7F01594A-19D1-4F2F-93FF-B9F18D1E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다음 단계: 컨테이너 제어 API와 실시간 운영 정보 연결</a:t>
            </a:r>
          </a:p>
        </p:txBody>
      </p:sp>
    </p:spTree>
    <p:extLst>
      <p:ext uri="{BB962C8B-B14F-4D97-AF65-F5344CB8AC3E}">
        <p14:creationId xmlns:p14="http://schemas.microsoft.com/office/powerpoint/2010/main" val="196079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2026-08-23T23:13:11.8110000Z</dcterms:created>
  <dcterms:modified xsi:type="dcterms:W3CDTF">2026-08-23T23:13:11.8120000Z</dcterms:modified>
</coreProperties>
</file>